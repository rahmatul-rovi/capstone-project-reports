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71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3" d="100"/>
          <a:sy n="83" d="100"/>
        </p:scale>
        <p:origin x="658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957044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52E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69680" y="-2011680"/>
            <a:ext cx="5943600" cy="5943600"/>
          </a:xfrm>
          <a:prstGeom prst="ellipse">
            <a:avLst/>
          </a:prstGeom>
          <a:solidFill>
            <a:srgbClr val="028090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2103120" y="4206240"/>
            <a:ext cx="4754880" cy="4754880"/>
          </a:xfrm>
          <a:prstGeom prst="ellipse">
            <a:avLst/>
          </a:prstGeom>
          <a:solidFill>
            <a:srgbClr val="00A896">
              <a:alpha val="3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907103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kern="0" spc="200" dirty="0">
                <a:solidFill>
                  <a:srgbClr val="02C39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MULTIMODAL FEDERATED LEARNING · CAPSTONE PROJECT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794327" y="1373540"/>
            <a:ext cx="10515600" cy="1600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Adaptive Client Selection for Multimodal Federated Vision Foundation Models in Alzheimer's Disease Prediction</a:t>
            </a:r>
            <a:endParaRPr 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868680" y="3037378"/>
            <a:ext cx="2011680" cy="0"/>
          </a:xfrm>
          <a:prstGeom prst="line">
            <a:avLst/>
          </a:prstGeom>
          <a:noFill/>
          <a:ln w="31750">
            <a:solidFill>
              <a:srgbClr val="02C39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338522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CFE8E5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Department of Computer Science and Engineering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Shape 6"/>
          <p:cNvSpPr/>
          <p:nvPr/>
        </p:nvSpPr>
        <p:spPr>
          <a:xfrm>
            <a:off x="766618" y="4069080"/>
            <a:ext cx="6903720" cy="2194560"/>
          </a:xfrm>
          <a:prstGeom prst="roundRect">
            <a:avLst>
              <a:gd name="adj" fmla="val 4167"/>
            </a:avLst>
          </a:prstGeom>
          <a:solidFill>
            <a:srgbClr val="FFFFFF">
              <a:alpha val="8000"/>
            </a:srgbClr>
          </a:solidFill>
          <a:ln w="9525">
            <a:solidFill>
              <a:srgbClr val="02C39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68680" y="4159873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kern="0" spc="150" dirty="0">
                <a:solidFill>
                  <a:srgbClr val="02C39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Group Members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858520" y="4559714"/>
            <a:ext cx="310896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Md. Jewel Rana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spcAft>
                <a:spcPts val="1000"/>
              </a:spcAft>
              <a:buNone/>
            </a:pPr>
            <a:r>
              <a:rPr lang="en-US" sz="1400" dirty="0">
                <a:solidFill>
                  <a:srgbClr val="AFD8D4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ID: 20234103363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Mubashsher Salek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spcAft>
                <a:spcPts val="1000"/>
              </a:spcAft>
              <a:buNone/>
            </a:pPr>
            <a:r>
              <a:rPr lang="en-US" sz="1400" dirty="0">
                <a:solidFill>
                  <a:srgbClr val="AFD8D4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ID: 20234103371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4408055" y="4350142"/>
            <a:ext cx="310896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Mostafa </a:t>
            </a:r>
            <a:r>
              <a:rPr lang="en-US" b="1" dirty="0" err="1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Monoar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spcAft>
                <a:spcPts val="1000"/>
              </a:spcAft>
              <a:buNone/>
            </a:pPr>
            <a:r>
              <a:rPr lang="en-US" sz="1400" dirty="0">
                <a:solidFill>
                  <a:srgbClr val="AFD8D4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ID: 20234103379</a:t>
            </a:r>
            <a:endParaRPr lang="en-US" b="1" dirty="0">
              <a:solidFill>
                <a:srgbClr val="FFFFFF"/>
              </a:solidFill>
              <a:latin typeface="Times New Roman" panose="02020603050405020304" pitchFamily="18" charset="0"/>
              <a:ea typeface="Calibri" pitchFamily="34" charset="-122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Mehedi Hassan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spcAft>
                <a:spcPts val="1000"/>
              </a:spcAft>
              <a:buNone/>
            </a:pPr>
            <a:r>
              <a:rPr lang="en-US" sz="1400" dirty="0">
                <a:solidFill>
                  <a:srgbClr val="AFD8D4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ID: 20234103384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Rahmatul Munim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spcAft>
                <a:spcPts val="1000"/>
              </a:spcAft>
              <a:buNone/>
            </a:pPr>
            <a:r>
              <a:rPr lang="en-US" sz="1400" dirty="0">
                <a:solidFill>
                  <a:srgbClr val="AFD8D4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ID: 20234103386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7918704" y="4069080"/>
            <a:ext cx="3456432" cy="2194560"/>
          </a:xfrm>
          <a:prstGeom prst="roundRect">
            <a:avLst>
              <a:gd name="adj" fmla="val 4167"/>
            </a:avLst>
          </a:prstGeom>
          <a:solidFill>
            <a:srgbClr val="02C39A"/>
          </a:solidFill>
          <a:ln/>
        </p:spPr>
      </p:sp>
      <p:sp>
        <p:nvSpPr>
          <p:cNvPr id="13" name="Text 11"/>
          <p:cNvSpPr/>
          <p:nvPr/>
        </p:nvSpPr>
        <p:spPr>
          <a:xfrm>
            <a:off x="8138160" y="4289735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052E33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Course Teacher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8138160" y="4564055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Dr. Md.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Rajibul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Islam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8138160" y="4853062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 err="1">
                <a:solidFill>
                  <a:srgbClr val="0B4B47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Assiociate</a:t>
            </a:r>
            <a:r>
              <a:rPr lang="en-US" sz="1400" dirty="0">
                <a:solidFill>
                  <a:srgbClr val="0B4B47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Professor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400" dirty="0">
                <a:solidFill>
                  <a:srgbClr val="0B4B47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Dept. of CSE, BUBT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8138160" y="5469313"/>
            <a:ext cx="3017520" cy="0"/>
          </a:xfrm>
          <a:prstGeom prst="line">
            <a:avLst/>
          </a:prstGeom>
          <a:noFill/>
          <a:ln w="6350">
            <a:solidFill>
              <a:srgbClr val="0B4B47">
                <a:alpha val="60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092440" y="5599176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0B4B47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Bangladesh University of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>
                <a:solidFill>
                  <a:srgbClr val="0B4B47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Business and Technology  ·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6000">
        <p15:prstTrans prst="curtains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kern="0" spc="200" dirty="0">
                <a:solidFill>
                  <a:srgbClr val="00A896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INTRODUCTION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607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2E2C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Alzheimer’s Disease &amp; the Case for Federated AI</a:t>
            </a:r>
            <a:endParaRPr 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6035040" cy="1298448"/>
          </a:xfrm>
          <a:prstGeom prst="roundRect">
            <a:avLst>
              <a:gd name="adj" fmla="val 5634"/>
            </a:avLst>
          </a:prstGeom>
          <a:solidFill>
            <a:srgbClr val="EAF6F4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499616"/>
            <a:ext cx="5577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2809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Two data types, one diagnosis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822960" y="1901952"/>
            <a:ext cx="5577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33454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Reliable Alzheimer’s diagnosis needs joint analysis of MRI/PET brain scans and clinical or demographic risk factors.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 need to analyze these two types of information together, not separately</a:t>
            </a:r>
            <a:r>
              <a:rPr lang="en-US" sz="1600" dirty="0"/>
              <a:t>.</a:t>
            </a:r>
          </a:p>
        </p:txBody>
      </p:sp>
      <p:sp>
        <p:nvSpPr>
          <p:cNvPr id="7" name="Shape 5"/>
          <p:cNvSpPr/>
          <p:nvPr/>
        </p:nvSpPr>
        <p:spPr>
          <a:xfrm>
            <a:off x="548640" y="2944368"/>
            <a:ext cx="6035040" cy="1298448"/>
          </a:xfrm>
          <a:prstGeom prst="roundRect">
            <a:avLst>
              <a:gd name="adj" fmla="val 5634"/>
            </a:avLst>
          </a:prstGeom>
          <a:solidFill>
            <a:srgbClr val="EAF6F4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822960" y="3054096"/>
            <a:ext cx="5577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2809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Data trapped across hospitals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822960" y="3383280"/>
            <a:ext cx="5577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just">
              <a:lnSpc>
                <a:spcPct val="115000"/>
              </a:lnSpc>
              <a:buNone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medical data is distributed across different hospitals. Because of privacy and regulatory issues, hospitals cannot simply share all their patients’ data with a central server.</a:t>
            </a:r>
          </a:p>
        </p:txBody>
      </p:sp>
      <p:sp>
        <p:nvSpPr>
          <p:cNvPr id="10" name="Shape 8"/>
          <p:cNvSpPr/>
          <p:nvPr/>
        </p:nvSpPr>
        <p:spPr>
          <a:xfrm>
            <a:off x="548640" y="4425696"/>
            <a:ext cx="6035040" cy="1298448"/>
          </a:xfrm>
          <a:prstGeom prst="roundRect">
            <a:avLst>
              <a:gd name="adj" fmla="val 5634"/>
            </a:avLst>
          </a:prstGeom>
          <a:solidFill>
            <a:srgbClr val="EAF6F4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4503420"/>
            <a:ext cx="5577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2809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Our approach: federated + smart selection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822960" y="4864608"/>
            <a:ext cx="5577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just">
              <a:lnSpc>
                <a:spcPct val="115000"/>
              </a:lnSpc>
              <a:buNone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our project uses Federated Learning. to make this process more effective, we introduce an adaptive, quality-aware client-selection mechanism.</a:t>
            </a:r>
          </a:p>
        </p:txBody>
      </p:sp>
      <p:sp>
        <p:nvSpPr>
          <p:cNvPr id="13" name="Text 11"/>
          <p:cNvSpPr/>
          <p:nvPr/>
        </p:nvSpPr>
        <p:spPr>
          <a:xfrm>
            <a:off x="6903720" y="1463040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150" dirty="0">
                <a:solidFill>
                  <a:srgbClr val="00A896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WHAT’S AHEAD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6903720" y="1828800"/>
            <a:ext cx="502920" cy="50292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5" name="Text 13"/>
          <p:cNvSpPr/>
          <p:nvPr/>
        </p:nvSpPr>
        <p:spPr>
          <a:xfrm>
            <a:off x="6903720" y="181051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1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7589520" y="1783080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2E2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Problem &amp; Motivation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7589520" y="2103120"/>
            <a:ext cx="4023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33454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Why existing federated systems for Alzheimer’s diagnosis fall short today.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6903720" y="3200400"/>
            <a:ext cx="502920" cy="50292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9" name="Text 17"/>
          <p:cNvSpPr/>
          <p:nvPr/>
        </p:nvSpPr>
        <p:spPr>
          <a:xfrm>
            <a:off x="6903720" y="318211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2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7589520" y="3154680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2E2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Methodology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7589520" y="3474720"/>
            <a:ext cx="4023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33454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Our adaptive client-selection framework and how it fits into federated training.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6903720" y="4572000"/>
            <a:ext cx="502920" cy="50292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23" name="Text 21"/>
          <p:cNvSpPr/>
          <p:nvPr/>
        </p:nvSpPr>
        <p:spPr>
          <a:xfrm>
            <a:off x="6903720" y="455371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7589520" y="4526280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2E2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Progress &amp; Next Steps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7589520" y="4846320"/>
            <a:ext cx="4023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33454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Where the project stands today and the roadmap for implementation and results.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1155161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48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57200" y="644652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BUBT · CSE Capstone</a:t>
            </a:r>
            <a:endParaRPr lang="en-US" sz="10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kern="0" spc="200" dirty="0">
                <a:solidFill>
                  <a:srgbClr val="00A896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THE PROBLEM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607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2E2C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Two Kinds of Evidence, Held Apart</a:t>
            </a:r>
            <a:endParaRPr 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548640" y="1268173"/>
            <a:ext cx="5943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just">
              <a:lnSpc>
                <a:spcPct val="125000"/>
              </a:lnSpc>
              <a:buNone/>
            </a:pPr>
            <a:r>
              <a:rPr lang="en-US" sz="1500" dirty="0">
                <a:solidFill>
                  <a:srgbClr val="33454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Reliable Alzheimer's diagnosis needs joint analysis of MRI/PET imaging and clinical or demographic risk factors — but this data lives across hospitals that cannot legally pool it onto one server.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548640" y="2651627"/>
            <a:ext cx="384048" cy="38404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6" name="Text 4"/>
          <p:cNvSpPr/>
          <p:nvPr/>
        </p:nvSpPr>
        <p:spPr>
          <a:xfrm>
            <a:off x="559292" y="2654337"/>
            <a:ext cx="373395" cy="3786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1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1087634" y="2602491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2E2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Privacy regulation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1097280" y="3064706"/>
            <a:ext cx="5293874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just">
              <a:lnSpc>
                <a:spcPct val="115000"/>
              </a:lnSpc>
              <a:buNone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Medical data is highly sensitive, so centralizing patient records from different hospitals into one server can be legally and practically difficult.</a:t>
            </a:r>
          </a:p>
        </p:txBody>
      </p:sp>
      <p:sp>
        <p:nvSpPr>
          <p:cNvPr id="9" name="Shape 7"/>
          <p:cNvSpPr/>
          <p:nvPr/>
        </p:nvSpPr>
        <p:spPr>
          <a:xfrm>
            <a:off x="548640" y="3967432"/>
            <a:ext cx="384048" cy="38404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3949144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087634" y="3947102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2E2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Naive participation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1097280" y="4187952"/>
            <a:ext cx="53949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just">
              <a:lnSpc>
                <a:spcPct val="115000"/>
              </a:lnSpc>
              <a:buNone/>
            </a:pPr>
            <a:r>
              <a:rPr lang="en-US" sz="1600" dirty="0">
                <a:solidFill>
                  <a:srgbClr val="33454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Existing federated frameworks pick clients randomly, ignoring data quality, modality gaps, and class imbalance.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548640" y="4983480"/>
            <a:ext cx="384048" cy="38404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496519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3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1097280" y="4928616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2E2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Consequence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1097280" y="5339917"/>
            <a:ext cx="53949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just">
              <a:lnSpc>
                <a:spcPct val="115000"/>
              </a:lnSpc>
              <a:buNone/>
            </a:pPr>
            <a:r>
              <a:rPr lang="en-US" sz="1600" dirty="0">
                <a:solidFill>
                  <a:srgbClr val="33454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Biased global models, slower convergence, and less reliable diagnosis —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this is where our adaptive client-selection approach comes in.</a:t>
            </a:r>
          </a:p>
        </p:txBody>
      </p:sp>
      <p:sp>
        <p:nvSpPr>
          <p:cNvPr id="17" name="Shape 15"/>
          <p:cNvSpPr/>
          <p:nvPr/>
        </p:nvSpPr>
        <p:spPr>
          <a:xfrm>
            <a:off x="6492239" y="1417320"/>
            <a:ext cx="5516575" cy="4709160"/>
          </a:xfrm>
          <a:prstGeom prst="roundRect">
            <a:avLst>
              <a:gd name="adj" fmla="val 2330"/>
            </a:avLst>
          </a:prstGeom>
          <a:solidFill>
            <a:srgbClr val="F4FBFA"/>
          </a:solidFill>
          <a:ln w="12700">
            <a:solidFill>
              <a:srgbClr val="DCE7E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178040" y="1645920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kern="0" spc="100" dirty="0">
                <a:solidFill>
                  <a:srgbClr val="00A896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ISOLATED HOSPITAL DATA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6606540" y="2075600"/>
            <a:ext cx="169164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5875">
            <a:solidFill>
              <a:srgbClr val="02809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606540" y="2103120"/>
            <a:ext cx="16916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02809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Hospital A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02809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(MRI)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8414245" y="2084037"/>
            <a:ext cx="169164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5875">
            <a:solidFill>
              <a:srgbClr val="02809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388885" y="2067159"/>
            <a:ext cx="16916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02809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Hospital B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02809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(Clinical)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10247205" y="2076043"/>
            <a:ext cx="169164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5875">
            <a:solidFill>
              <a:srgbClr val="028090"/>
            </a:solidFill>
            <a:prstDash val="solid"/>
          </a:ln>
        </p:spPr>
        <p:txBody>
          <a:bodyPr/>
          <a:lstStyle/>
          <a:p>
            <a:r>
              <a:rPr lang="en-US" dirty="0"/>
              <a:t> </a:t>
            </a:r>
          </a:p>
        </p:txBody>
      </p:sp>
      <p:sp>
        <p:nvSpPr>
          <p:cNvPr id="24" name="Text 22"/>
          <p:cNvSpPr/>
          <p:nvPr/>
        </p:nvSpPr>
        <p:spPr>
          <a:xfrm>
            <a:off x="10216089" y="2048611"/>
            <a:ext cx="16916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02809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Hospital C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02809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(Mixed)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8883663" y="3694176"/>
            <a:ext cx="777240" cy="77724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C0392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915400" y="3677298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0392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RAW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sz="1600" b="1" dirty="0">
                <a:solidFill>
                  <a:srgbClr val="C0392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DATA</a:t>
            </a:r>
            <a:endParaRPr lang="en-US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Shape 25"/>
          <p:cNvSpPr/>
          <p:nvPr/>
        </p:nvSpPr>
        <p:spPr>
          <a:xfrm>
            <a:off x="7401313" y="2971800"/>
            <a:ext cx="1691640" cy="722376"/>
          </a:xfrm>
          <a:prstGeom prst="line">
            <a:avLst/>
          </a:prstGeom>
          <a:noFill/>
          <a:ln w="15875">
            <a:solidFill>
              <a:srgbClr val="C0392B"/>
            </a:solidFill>
            <a:prstDash val="dash"/>
          </a:ln>
        </p:spPr>
      </p:sp>
      <p:sp>
        <p:nvSpPr>
          <p:cNvPr id="28" name="Shape 26"/>
          <p:cNvSpPr/>
          <p:nvPr/>
        </p:nvSpPr>
        <p:spPr>
          <a:xfrm flipH="1">
            <a:off x="9273423" y="2971800"/>
            <a:ext cx="5954" cy="698580"/>
          </a:xfrm>
          <a:prstGeom prst="line">
            <a:avLst/>
          </a:prstGeom>
          <a:noFill/>
          <a:ln w="15875">
            <a:solidFill>
              <a:srgbClr val="C0392B"/>
            </a:solidFill>
            <a:prstDash val="dash"/>
          </a:ln>
        </p:spPr>
      </p:sp>
      <p:sp>
        <p:nvSpPr>
          <p:cNvPr id="29" name="Shape 27"/>
          <p:cNvSpPr/>
          <p:nvPr/>
        </p:nvSpPr>
        <p:spPr>
          <a:xfrm flipH="1">
            <a:off x="9459848" y="2963351"/>
            <a:ext cx="1629376" cy="777240"/>
          </a:xfrm>
          <a:prstGeom prst="line">
            <a:avLst/>
          </a:prstGeom>
          <a:noFill/>
          <a:ln w="15875">
            <a:solidFill>
              <a:srgbClr val="C0392B"/>
            </a:solidFill>
            <a:prstDash val="dash"/>
          </a:ln>
        </p:spPr>
      </p:sp>
      <p:sp>
        <p:nvSpPr>
          <p:cNvPr id="30" name="Text 28"/>
          <p:cNvSpPr/>
          <p:nvPr/>
        </p:nvSpPr>
        <p:spPr>
          <a:xfrm>
            <a:off x="6693408" y="4667431"/>
            <a:ext cx="5033994" cy="101427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just">
              <a:lnSpc>
                <a:spcPct val="120000"/>
              </a:lnSpc>
              <a:buNone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Due to privacy and regulatory restrictions, this raw data cannot be directly pooled together.</a:t>
            </a:r>
            <a:r>
              <a:rPr lang="en-US" sz="16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— the motivation for a federated approach.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1155161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48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57200" y="644652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BUBT · CSE Capstone</a:t>
            </a:r>
            <a:endParaRPr lang="en-US" sz="10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kern="0" spc="200" dirty="0">
                <a:solidFill>
                  <a:srgbClr val="00A896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BACKGROUND &amp; MOTIVATION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607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2E2C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Why Federated Learning, Why Now</a:t>
            </a:r>
            <a:endParaRPr 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6035040" cy="1298448"/>
          </a:xfrm>
          <a:prstGeom prst="roundRect">
            <a:avLst>
              <a:gd name="adj" fmla="val 5634"/>
            </a:avLst>
          </a:prstGeom>
          <a:solidFill>
            <a:srgbClr val="EAF6F4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508760"/>
            <a:ext cx="5577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2809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Vision foundation models work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822960" y="1901952"/>
            <a:ext cx="5577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just">
              <a:lnSpc>
                <a:spcPct val="115000"/>
              </a:lnSpc>
              <a:buNone/>
            </a:pPr>
            <a:r>
              <a:rPr lang="en-US" sz="1600" dirty="0">
                <a:solidFill>
                  <a:srgbClr val="33454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CLIP-style pretraining (Radford et al.) and medical adaptations like ADLIP show strong Alzheimer's diagnosis performance — but only in centralised training.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548640" y="2944368"/>
            <a:ext cx="6035040" cy="1298448"/>
          </a:xfrm>
          <a:prstGeom prst="roundRect">
            <a:avLst>
              <a:gd name="adj" fmla="val 5634"/>
            </a:avLst>
          </a:prstGeom>
          <a:solidFill>
            <a:srgbClr val="EAF6F4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2953512"/>
            <a:ext cx="5577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2809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Federated learning removes the barrier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822960" y="3383280"/>
            <a:ext cx="5577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just">
              <a:lnSpc>
                <a:spcPct val="115000"/>
              </a:lnSpc>
              <a:buNone/>
            </a:pPr>
            <a:r>
              <a:rPr lang="en-US" sz="1600" dirty="0">
                <a:solidFill>
                  <a:srgbClr val="33454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FedAvg (McMahan et al.) lets hospitals train locally and share only model updates, not raw data — already applied to Alzheimer's diagnosis (FuzzyFed-CNN, federated SAM-Med3D).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548640" y="4425696"/>
            <a:ext cx="6035040" cy="1298448"/>
          </a:xfrm>
          <a:prstGeom prst="roundRect">
            <a:avLst>
              <a:gd name="adj" fmla="val 5634"/>
            </a:avLst>
          </a:prstGeom>
          <a:solidFill>
            <a:srgbClr val="EAF6F4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4503420"/>
            <a:ext cx="5577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2809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Client selection is the missing piece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822960" y="4864608"/>
            <a:ext cx="5577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just">
              <a:lnSpc>
                <a:spcPct val="115000"/>
              </a:lnSpc>
              <a:buNone/>
            </a:pPr>
            <a:r>
              <a:rPr lang="en-US" sz="1600" dirty="0">
                <a:solidFill>
                  <a:srgbClr val="33454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Prior federated Alzheimer's systems use random or full participation, discarding the free signal each client can report about its own data quality.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6903720" y="1463040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150" dirty="0">
                <a:solidFill>
                  <a:srgbClr val="00A896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THREE MOTIVATIONS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6903720" y="1828800"/>
            <a:ext cx="502920" cy="50292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5" name="Text 13"/>
          <p:cNvSpPr/>
          <p:nvPr/>
        </p:nvSpPr>
        <p:spPr>
          <a:xfrm>
            <a:off x="6903720" y="181051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7589520" y="1783080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2E2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Regulatory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7589520" y="2103120"/>
            <a:ext cx="4023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just">
              <a:lnSpc>
                <a:spcPct val="115000"/>
              </a:lnSpc>
              <a:buNone/>
            </a:pPr>
            <a:r>
              <a:rPr lang="en-US" sz="1600" dirty="0">
                <a:solidFill>
                  <a:srgbClr val="33454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Hospital data legally cannot be centralised — federated design is required, not optional.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6903720" y="3200400"/>
            <a:ext cx="502920" cy="50292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9" name="Text 17"/>
          <p:cNvSpPr/>
          <p:nvPr/>
        </p:nvSpPr>
        <p:spPr>
          <a:xfrm>
            <a:off x="6903720" y="318211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2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7589520" y="3154680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2E2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Heterogeneity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7589520" y="3474720"/>
            <a:ext cx="4023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just">
              <a:lnSpc>
                <a:spcPct val="115000"/>
              </a:lnSpc>
              <a:buNone/>
            </a:pPr>
            <a:r>
              <a:rPr lang="en-US" sz="1600" dirty="0">
                <a:solidFill>
                  <a:srgbClr val="33454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Hospitals differ in scanners, populations, and how completely clinical data is recorded.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6903720" y="4572000"/>
            <a:ext cx="502920" cy="50292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23" name="Text 21"/>
          <p:cNvSpPr/>
          <p:nvPr/>
        </p:nvSpPr>
        <p:spPr>
          <a:xfrm>
            <a:off x="6903720" y="455371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3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7589520" y="4526280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2E2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Trust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7589520" y="4846320"/>
            <a:ext cx="4023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just">
              <a:lnSpc>
                <a:spcPct val="115000"/>
              </a:lnSpc>
              <a:buNone/>
            </a:pPr>
            <a:r>
              <a:rPr lang="en-US" sz="1600" dirty="0">
                <a:solidFill>
                  <a:srgbClr val="33454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Clinicians need to discount unreliable clients and see explainable predictions before acting.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1155161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48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57200" y="644652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BUBT · CSE Capstone</a:t>
            </a:r>
            <a:endParaRPr lang="en-US" sz="10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kern="0" spc="200" dirty="0">
                <a:solidFill>
                  <a:srgbClr val="00A896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RESEARCH OBJECTIVES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607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2E2C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What This Project Sets Out To Do</a:t>
            </a:r>
            <a:endParaRPr 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5257800" cy="1207008"/>
          </a:xfrm>
          <a:prstGeom prst="roundRect">
            <a:avLst>
              <a:gd name="adj" fmla="val 6818"/>
            </a:avLst>
          </a:prstGeom>
          <a:solidFill>
            <a:srgbClr val="EAF6F4"/>
          </a:solidFill>
          <a:ln w="9525">
            <a:solidFill>
              <a:srgbClr val="DCE7E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49808" y="1691640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6" name="Text 4"/>
          <p:cNvSpPr/>
          <p:nvPr/>
        </p:nvSpPr>
        <p:spPr>
          <a:xfrm>
            <a:off x="749808" y="167335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O1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1417320" y="1618488"/>
            <a:ext cx="4206240" cy="9875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just">
              <a:lnSpc>
                <a:spcPct val="118000"/>
              </a:lnSpc>
              <a:buNone/>
            </a:pPr>
            <a:r>
              <a:rPr lang="en-US" sz="1600" dirty="0">
                <a:solidFill>
                  <a:srgbClr val="33454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Design a multimodal federated learning framework fusing MRI imaging with clinical and demographic risk factors.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Shape 6"/>
          <p:cNvSpPr/>
          <p:nvPr/>
        </p:nvSpPr>
        <p:spPr>
          <a:xfrm>
            <a:off x="6400800" y="1508760"/>
            <a:ext cx="5257800" cy="1207008"/>
          </a:xfrm>
          <a:prstGeom prst="roundRect">
            <a:avLst>
              <a:gd name="adj" fmla="val 6818"/>
            </a:avLst>
          </a:prstGeom>
          <a:solidFill>
            <a:srgbClr val="F4FBFA"/>
          </a:solidFill>
          <a:ln w="9525">
            <a:solidFill>
              <a:srgbClr val="DCE7E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601968" y="1691640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0" name="Text 8"/>
          <p:cNvSpPr/>
          <p:nvPr/>
        </p:nvSpPr>
        <p:spPr>
          <a:xfrm>
            <a:off x="6601968" y="167335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O2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7269480" y="1618488"/>
            <a:ext cx="4206240" cy="9875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just">
              <a:lnSpc>
                <a:spcPct val="118000"/>
              </a:lnSpc>
              <a:buNone/>
            </a:pPr>
            <a:r>
              <a:rPr lang="en-US" sz="1600" dirty="0">
                <a:solidFill>
                  <a:srgbClr val="33454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Integrate a pretrained vision foundation model via LoRA fine-tuning to keep per-round communication cost low.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548640" y="2880360"/>
            <a:ext cx="5257800" cy="1207008"/>
          </a:xfrm>
          <a:prstGeom prst="roundRect">
            <a:avLst>
              <a:gd name="adj" fmla="val 6818"/>
            </a:avLst>
          </a:prstGeom>
          <a:solidFill>
            <a:srgbClr val="EAF6F4"/>
          </a:solidFill>
          <a:ln w="9525">
            <a:solidFill>
              <a:srgbClr val="DCE7E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49808" y="3063240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4" name="Text 12"/>
          <p:cNvSpPr/>
          <p:nvPr/>
        </p:nvSpPr>
        <p:spPr>
          <a:xfrm>
            <a:off x="749808" y="304495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O3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1417320" y="2990088"/>
            <a:ext cx="4206240" cy="9875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just">
              <a:lnSpc>
                <a:spcPct val="118000"/>
              </a:lnSpc>
              <a:buNone/>
            </a:pPr>
            <a:r>
              <a:rPr lang="en-US" sz="1600" dirty="0">
                <a:solidFill>
                  <a:srgbClr val="33454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Develop an adaptive client selection strategy scoring clients on data quality, modality completeness, and class balance.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6400800" y="2880360"/>
            <a:ext cx="5257800" cy="1207008"/>
          </a:xfrm>
          <a:prstGeom prst="roundRect">
            <a:avLst>
              <a:gd name="adj" fmla="val 6818"/>
            </a:avLst>
          </a:prstGeom>
          <a:solidFill>
            <a:srgbClr val="F4FBFA"/>
          </a:solidFill>
          <a:ln w="9525">
            <a:solidFill>
              <a:srgbClr val="DCE7E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601968" y="3063240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8" name="Text 16"/>
          <p:cNvSpPr/>
          <p:nvPr/>
        </p:nvSpPr>
        <p:spPr>
          <a:xfrm>
            <a:off x="6601968" y="304495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O4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7269480" y="2990088"/>
            <a:ext cx="4206240" cy="9875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just">
              <a:lnSpc>
                <a:spcPct val="118000"/>
              </a:lnSpc>
              <a:buNone/>
            </a:pPr>
            <a:r>
              <a:rPr lang="en-US" sz="1600" dirty="0">
                <a:solidFill>
                  <a:srgbClr val="33454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Benchmark against FedAvg with random sampling and correlation-based selection (FedCor) on accuracy, convergence, and efficiency.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548640" y="4251960"/>
            <a:ext cx="5257800" cy="1207008"/>
          </a:xfrm>
          <a:prstGeom prst="roundRect">
            <a:avLst>
              <a:gd name="adj" fmla="val 6818"/>
            </a:avLst>
          </a:prstGeom>
          <a:solidFill>
            <a:srgbClr val="EAF6F4"/>
          </a:solidFill>
          <a:ln w="9525">
            <a:solidFill>
              <a:srgbClr val="DCE7E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49808" y="4434840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2" name="Text 20"/>
          <p:cNvSpPr/>
          <p:nvPr/>
        </p:nvSpPr>
        <p:spPr>
          <a:xfrm>
            <a:off x="749808" y="441655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O5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1417320" y="4361688"/>
            <a:ext cx="4206240" cy="9875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just">
              <a:lnSpc>
                <a:spcPct val="118000"/>
              </a:lnSpc>
              <a:buNone/>
            </a:pPr>
            <a:r>
              <a:rPr lang="en-US" sz="1600" dirty="0">
                <a:solidFill>
                  <a:srgbClr val="33454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Make model decisions interpretable to clinicians using Grad-CAM for imaging and SHAP for clinical features.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1155161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48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57200" y="644652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BUBT · CSE Capstone</a:t>
            </a:r>
            <a:endParaRPr lang="en-US" sz="10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kern="0" spc="200" dirty="0">
                <a:solidFill>
                  <a:srgbClr val="00A896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LITERATURE REVIEW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607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2E2C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No Prior System Covers All Three Needs</a:t>
            </a:r>
            <a:endParaRPr 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1064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just">
              <a:lnSpc>
                <a:spcPct val="120000"/>
              </a:lnSpc>
              <a:buNone/>
            </a:pPr>
            <a:r>
              <a:rPr lang="en-US" sz="1600" dirty="0">
                <a:solidFill>
                  <a:srgbClr val="33454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Four literature themes were reviewed — vision foundation models, federated medical learning, client selection, and explainability. Each prior system occupies only one part of the space below.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548640" y="2057400"/>
            <a:ext cx="11183112" cy="457200"/>
          </a:xfrm>
          <a:prstGeom prst="roundRect">
            <a:avLst>
              <a:gd name="adj" fmla="val 10000"/>
            </a:avLst>
          </a:prstGeom>
          <a:solidFill>
            <a:srgbClr val="052E33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2057400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System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2880360" y="205740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Modality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5257800" y="205740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Client Selection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7818120" y="205740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Foundation Model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10104120" y="2057400"/>
            <a:ext cx="15361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Explainability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548640" y="2514600"/>
            <a:ext cx="11183112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DCE7E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2514600"/>
            <a:ext cx="22402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33454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FuzzyFed-CNN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2880360" y="2514600"/>
            <a:ext cx="22860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33454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MRI (fuzzy fusion)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5257800" y="2514600"/>
            <a:ext cx="24688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33454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Near-uniform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7818120" y="2514600"/>
            <a:ext cx="21945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33454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No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10104120" y="2514600"/>
            <a:ext cx="153619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33454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Fuzzy rules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548640" y="3081528"/>
            <a:ext cx="11183112" cy="566928"/>
          </a:xfrm>
          <a:prstGeom prst="rect">
            <a:avLst/>
          </a:prstGeom>
          <a:solidFill>
            <a:srgbClr val="F4FBFA"/>
          </a:solidFill>
          <a:ln w="6350">
            <a:solidFill>
              <a:srgbClr val="DCE7E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3081528"/>
            <a:ext cx="22402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33454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ADLIP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2880360" y="3081528"/>
            <a:ext cx="22860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33454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MRI + clinical text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5257800" y="3081528"/>
            <a:ext cx="24688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33454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N/A (centralised)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7818120" y="3081528"/>
            <a:ext cx="21945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33454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Yes (vision-language)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10104120" y="3081528"/>
            <a:ext cx="153619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33454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Limited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548640" y="3648456"/>
            <a:ext cx="11183112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DCE7E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48640" y="3648456"/>
            <a:ext cx="22402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33454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Federated SAM-Med3D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2880360" y="3648456"/>
            <a:ext cx="22860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33454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MRI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5257800" y="3648456"/>
            <a:ext cx="24688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33454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Random / full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7818120" y="3648456"/>
            <a:ext cx="21945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33454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Yes (SAM-Med3D)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10104120" y="3648456"/>
            <a:ext cx="153619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33454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No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Shape 27"/>
          <p:cNvSpPr/>
          <p:nvPr/>
        </p:nvSpPr>
        <p:spPr>
          <a:xfrm>
            <a:off x="548640" y="4215384"/>
            <a:ext cx="11183112" cy="566928"/>
          </a:xfrm>
          <a:prstGeom prst="rect">
            <a:avLst/>
          </a:prstGeom>
          <a:solidFill>
            <a:srgbClr val="F4FBFA"/>
          </a:solidFill>
          <a:ln w="6350">
            <a:solidFill>
              <a:srgbClr val="DCE7E6"/>
            </a:solidFill>
            <a:prstDash val="solid"/>
          </a:ln>
        </p:spPr>
        <p:txBody>
          <a:bodyPr/>
          <a:lstStyle/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Text 28"/>
          <p:cNvSpPr/>
          <p:nvPr/>
        </p:nvSpPr>
        <p:spPr>
          <a:xfrm>
            <a:off x="548640" y="4215384"/>
            <a:ext cx="22402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33454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FedCor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2880360" y="4215384"/>
            <a:ext cx="22860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33454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Generic (non-medical)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" name="Text 30"/>
          <p:cNvSpPr/>
          <p:nvPr/>
        </p:nvSpPr>
        <p:spPr>
          <a:xfrm>
            <a:off x="5257800" y="4215384"/>
            <a:ext cx="24688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33454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Correlation-based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Text 31"/>
          <p:cNvSpPr/>
          <p:nvPr/>
        </p:nvSpPr>
        <p:spPr>
          <a:xfrm>
            <a:off x="7818120" y="4215384"/>
            <a:ext cx="21945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33454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No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" name="Text 32"/>
          <p:cNvSpPr/>
          <p:nvPr/>
        </p:nvSpPr>
        <p:spPr>
          <a:xfrm>
            <a:off x="10104120" y="4215384"/>
            <a:ext cx="153619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33454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No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5" name="Shape 33"/>
          <p:cNvSpPr/>
          <p:nvPr/>
        </p:nvSpPr>
        <p:spPr>
          <a:xfrm>
            <a:off x="548640" y="4782312"/>
            <a:ext cx="11183112" cy="566928"/>
          </a:xfrm>
          <a:prstGeom prst="rect">
            <a:avLst/>
          </a:prstGeom>
          <a:solidFill>
            <a:srgbClr val="DCF3EF"/>
          </a:solidFill>
          <a:ln w="6350">
            <a:solidFill>
              <a:srgbClr val="DCE7E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48640" y="4782312"/>
            <a:ext cx="22402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52E33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Proposed Framework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7" name="Text 35"/>
          <p:cNvSpPr/>
          <p:nvPr/>
        </p:nvSpPr>
        <p:spPr>
          <a:xfrm>
            <a:off x="2880360" y="4782312"/>
            <a:ext cx="22860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52E33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MRI + clinical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8" name="Text 36"/>
          <p:cNvSpPr/>
          <p:nvPr/>
        </p:nvSpPr>
        <p:spPr>
          <a:xfrm>
            <a:off x="5257800" y="4782312"/>
            <a:ext cx="24688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52E33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Adaptive, quality-aware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9" name="Text 37"/>
          <p:cNvSpPr/>
          <p:nvPr/>
        </p:nvSpPr>
        <p:spPr>
          <a:xfrm>
            <a:off x="7818120" y="4782312"/>
            <a:ext cx="21945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52E33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Yes (ViT-based)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0" name="Text 38"/>
          <p:cNvSpPr/>
          <p:nvPr/>
        </p:nvSpPr>
        <p:spPr>
          <a:xfrm>
            <a:off x="10104120" y="4782312"/>
            <a:ext cx="153619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52E33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Grad-CAM + SHAP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1" name="Text 39"/>
          <p:cNvSpPr/>
          <p:nvPr/>
        </p:nvSpPr>
        <p:spPr>
          <a:xfrm>
            <a:off x="548640" y="5513832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00A896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Gap: only the proposed framework combines multimodal federated foundation-model training, adaptive quality-aware selection, and cross-modal explainability.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2" name="Text 40"/>
          <p:cNvSpPr/>
          <p:nvPr/>
        </p:nvSpPr>
        <p:spPr>
          <a:xfrm>
            <a:off x="1155161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48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457200" y="644652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BUBT · CSE Capstone</a:t>
            </a:r>
            <a:endParaRPr lang="en-US" sz="10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kern="0" spc="200" dirty="0">
                <a:solidFill>
                  <a:srgbClr val="00A896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RESEARCH CONTRIBUTIONS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607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2E2C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What This Project Adds</a:t>
            </a:r>
            <a:endParaRPr 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3529584" cy="2148840"/>
          </a:xfrm>
          <a:prstGeom prst="roundRect">
            <a:avLst>
              <a:gd name="adj" fmla="val 4255"/>
            </a:avLst>
          </a:prstGeom>
          <a:solidFill>
            <a:srgbClr val="EAF6F4"/>
          </a:solidFill>
          <a:ln/>
        </p:spPr>
      </p:sp>
      <p:sp>
        <p:nvSpPr>
          <p:cNvPr id="5" name="Shape 3"/>
          <p:cNvSpPr/>
          <p:nvPr/>
        </p:nvSpPr>
        <p:spPr>
          <a:xfrm>
            <a:off x="676656" y="1665642"/>
            <a:ext cx="457200" cy="45720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6" name="Text 4"/>
          <p:cNvSpPr/>
          <p:nvPr/>
        </p:nvSpPr>
        <p:spPr>
          <a:xfrm>
            <a:off x="667512" y="164735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C1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1240536" y="1642782"/>
            <a:ext cx="3017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0F2E2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Federated fusion framework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804672" y="2468880"/>
            <a:ext cx="327355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just">
              <a:lnSpc>
                <a:spcPct val="115000"/>
              </a:lnSpc>
              <a:buNone/>
            </a:pPr>
            <a:r>
              <a:rPr lang="en-US" sz="1600" dirty="0">
                <a:solidFill>
                  <a:srgbClr val="33454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 shared ViT encoder and clinical encoder are fused and fine-tuned locally with LoRA, so only low-rank parameters are communicated.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4306824" y="1508760"/>
            <a:ext cx="3529584" cy="2148840"/>
          </a:xfrm>
          <a:prstGeom prst="roundRect">
            <a:avLst>
              <a:gd name="adj" fmla="val 4255"/>
            </a:avLst>
          </a:prstGeom>
          <a:solidFill>
            <a:srgbClr val="028090"/>
          </a:solidFill>
          <a:ln/>
        </p:spPr>
      </p:sp>
      <p:sp>
        <p:nvSpPr>
          <p:cNvPr id="10" name="Shape 8"/>
          <p:cNvSpPr/>
          <p:nvPr/>
        </p:nvSpPr>
        <p:spPr>
          <a:xfrm>
            <a:off x="4562856" y="1764792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1" name="Text 9"/>
          <p:cNvSpPr/>
          <p:nvPr/>
        </p:nvSpPr>
        <p:spPr>
          <a:xfrm>
            <a:off x="4562856" y="174650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2809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C2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5107014" y="1787652"/>
            <a:ext cx="3017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Adaptive client selection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4587240" y="2555748"/>
            <a:ext cx="3017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just">
              <a:lnSpc>
                <a:spcPct val="115000"/>
              </a:lnSpc>
              <a:buNone/>
            </a:pPr>
            <a:r>
              <a:rPr lang="en-US" sz="1600" dirty="0">
                <a:solidFill>
                  <a:srgbClr val="E4F7F4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Scores each client on data quality, modality completeness, and class balance before every aggregation round.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8065008" y="1508760"/>
            <a:ext cx="3529584" cy="2148840"/>
          </a:xfrm>
          <a:prstGeom prst="roundRect">
            <a:avLst>
              <a:gd name="adj" fmla="val 4255"/>
            </a:avLst>
          </a:prstGeom>
          <a:solidFill>
            <a:srgbClr val="EAF6F4"/>
          </a:solidFill>
          <a:ln/>
        </p:spPr>
      </p:sp>
      <p:sp>
        <p:nvSpPr>
          <p:cNvPr id="15" name="Shape 13"/>
          <p:cNvSpPr/>
          <p:nvPr/>
        </p:nvSpPr>
        <p:spPr>
          <a:xfrm>
            <a:off x="8321040" y="1764792"/>
            <a:ext cx="457200" cy="45720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6" name="Text 14"/>
          <p:cNvSpPr/>
          <p:nvPr/>
        </p:nvSpPr>
        <p:spPr>
          <a:xfrm>
            <a:off x="8321040" y="174650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C3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8805672" y="1767481"/>
            <a:ext cx="3017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0F2E2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Weighted aggregation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8321040" y="2498105"/>
            <a:ext cx="3017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just">
              <a:lnSpc>
                <a:spcPct val="115000"/>
              </a:lnSpc>
              <a:buNone/>
            </a:pPr>
            <a:r>
              <a:rPr lang="en-US" sz="1600" dirty="0">
                <a:solidFill>
                  <a:srgbClr val="33454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Extends FedAvg by scaling each selected client's contribution by its selection score.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548640" y="3931920"/>
            <a:ext cx="5477256" cy="1545336"/>
          </a:xfrm>
          <a:prstGeom prst="roundRect">
            <a:avLst>
              <a:gd name="adj" fmla="val 6452"/>
            </a:avLst>
          </a:prstGeom>
          <a:solidFill>
            <a:srgbClr val="F4FBFA"/>
          </a:solidFill>
          <a:ln w="9525">
            <a:solidFill>
              <a:srgbClr val="DCE7E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04672" y="4187952"/>
            <a:ext cx="457200" cy="45720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21" name="Text 19"/>
          <p:cNvSpPr/>
          <p:nvPr/>
        </p:nvSpPr>
        <p:spPr>
          <a:xfrm>
            <a:off x="804672" y="416966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C4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1463040" y="4114800"/>
            <a:ext cx="428853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2E2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Cross-modal explainability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1462323" y="4638787"/>
            <a:ext cx="4288536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just">
              <a:lnSpc>
                <a:spcPct val="115000"/>
              </a:lnSpc>
              <a:buNone/>
            </a:pPr>
            <a:r>
              <a:rPr lang="en-US" sz="1600" dirty="0">
                <a:solidFill>
                  <a:srgbClr val="33454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Pairs Grad-CAM (imaging) with SHAP (clinical) so flagged predictions carry evidence from both modalities.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6281928" y="3931920"/>
            <a:ext cx="5477256" cy="1545336"/>
          </a:xfrm>
          <a:prstGeom prst="roundRect">
            <a:avLst>
              <a:gd name="adj" fmla="val 6452"/>
            </a:avLst>
          </a:prstGeom>
          <a:solidFill>
            <a:srgbClr val="F4FBFA"/>
          </a:solidFill>
          <a:ln w="9525">
            <a:solidFill>
              <a:srgbClr val="DCE7E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510528" y="4187952"/>
            <a:ext cx="457200" cy="45720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26" name="Text 24"/>
          <p:cNvSpPr/>
          <p:nvPr/>
        </p:nvSpPr>
        <p:spPr>
          <a:xfrm>
            <a:off x="6510528" y="416966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C5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7168896" y="4114800"/>
            <a:ext cx="428853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2E2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Planned ablation study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7098792" y="4616734"/>
            <a:ext cx="4288536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just">
              <a:lnSpc>
                <a:spcPct val="115000"/>
              </a:lnSpc>
              <a:buNone/>
            </a:pPr>
            <a:r>
              <a:rPr lang="en-US" sz="1600" dirty="0">
                <a:solidFill>
                  <a:srgbClr val="33454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Isolates the effect of selection, weighted aggregation, and each modality against FedAvg and FedCor baselines.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1155161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48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57200" y="644652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BUBT · CSE Capstone</a:t>
            </a:r>
            <a:endParaRPr lang="en-US" sz="10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kern="0" spc="200" dirty="0">
                <a:solidFill>
                  <a:srgbClr val="00A896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RESEARCH METHODOLOGY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607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2E2C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Proposed Adaptive Client-Selection Framework</a:t>
            </a:r>
            <a:endParaRPr 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2103120" cy="868680"/>
          </a:xfrm>
          <a:prstGeom prst="roundRect">
            <a:avLst>
              <a:gd name="adj" fmla="val 8421"/>
            </a:avLst>
          </a:prstGeom>
          <a:solidFill>
            <a:srgbClr val="F4FBFA"/>
          </a:solidFill>
          <a:ln w="9525">
            <a:solidFill>
              <a:srgbClr val="DCE7E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554480"/>
            <a:ext cx="21031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0F2E2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MRI + Clinical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0F2E2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Data (per client)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2971800" y="1554480"/>
            <a:ext cx="2103120" cy="868680"/>
          </a:xfrm>
          <a:prstGeom prst="roundRect">
            <a:avLst>
              <a:gd name="adj" fmla="val 8421"/>
            </a:avLst>
          </a:prstGeom>
          <a:solidFill>
            <a:srgbClr val="F4FBFA"/>
          </a:solidFill>
          <a:ln w="9525">
            <a:solidFill>
              <a:srgbClr val="DCE7E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971800" y="1554480"/>
            <a:ext cx="21031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0F2E2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ViT Encoder +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0F2E2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Clinical Encoder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Shape 6"/>
          <p:cNvSpPr/>
          <p:nvPr/>
        </p:nvSpPr>
        <p:spPr>
          <a:xfrm>
            <a:off x="5394960" y="1554480"/>
            <a:ext cx="2103120" cy="868680"/>
          </a:xfrm>
          <a:prstGeom prst="roundRect">
            <a:avLst>
              <a:gd name="adj" fmla="val 8421"/>
            </a:avLst>
          </a:prstGeom>
          <a:solidFill>
            <a:srgbClr val="028090"/>
          </a:solidFill>
          <a:ln w="9525">
            <a:solidFill>
              <a:srgbClr val="DCE7E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394960" y="1554480"/>
            <a:ext cx="21031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Fusion Layer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(LoRA fine-tuned)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7818120" y="1554480"/>
            <a:ext cx="2103120" cy="868680"/>
          </a:xfrm>
          <a:prstGeom prst="roundRect">
            <a:avLst>
              <a:gd name="adj" fmla="val 8421"/>
            </a:avLst>
          </a:prstGeom>
          <a:solidFill>
            <a:srgbClr val="F4FBFA"/>
          </a:solidFill>
          <a:ln w="9525">
            <a:solidFill>
              <a:srgbClr val="DCE7E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818120" y="1554480"/>
            <a:ext cx="21031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0F2E2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Local Quality /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0F2E2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Completeness / Balance Score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2651760" y="1988820"/>
            <a:ext cx="320040" cy="0"/>
          </a:xfrm>
          <a:prstGeom prst="line">
            <a:avLst/>
          </a:prstGeom>
          <a:noFill/>
          <a:ln w="25400">
            <a:solidFill>
              <a:srgbClr val="00A896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5074920" y="1988820"/>
            <a:ext cx="320040" cy="0"/>
          </a:xfrm>
          <a:prstGeom prst="line">
            <a:avLst/>
          </a:prstGeom>
          <a:noFill/>
          <a:ln w="25400">
            <a:solidFill>
              <a:srgbClr val="00A896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7498080" y="1988820"/>
            <a:ext cx="320040" cy="0"/>
          </a:xfrm>
          <a:prstGeom prst="line">
            <a:avLst/>
          </a:prstGeom>
          <a:noFill/>
          <a:ln w="25400">
            <a:solidFill>
              <a:srgbClr val="00A896"/>
            </a:solidFill>
            <a:prstDash val="solid"/>
            <a:tailEnd type="triangle"/>
          </a:ln>
        </p:spPr>
      </p:sp>
      <p:sp>
        <p:nvSpPr>
          <p:cNvPr id="15" name="Text 13"/>
          <p:cNvSpPr/>
          <p:nvPr/>
        </p:nvSpPr>
        <p:spPr>
          <a:xfrm>
            <a:off x="548640" y="2542032"/>
            <a:ext cx="9326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Repeated at every client hospital, each round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6035040" y="2423160"/>
            <a:ext cx="0" cy="502920"/>
          </a:xfrm>
          <a:prstGeom prst="line">
            <a:avLst/>
          </a:prstGeom>
          <a:noFill/>
          <a:ln w="25400">
            <a:solidFill>
              <a:srgbClr val="00A896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3749040" y="2971800"/>
            <a:ext cx="4663440" cy="685800"/>
          </a:xfrm>
          <a:prstGeom prst="roundRect">
            <a:avLst>
              <a:gd name="adj" fmla="val 10667"/>
            </a:avLst>
          </a:prstGeom>
          <a:solidFill>
            <a:srgbClr val="00A896"/>
          </a:solidFill>
          <a:ln/>
        </p:spPr>
      </p:sp>
      <p:sp>
        <p:nvSpPr>
          <p:cNvPr id="18" name="Text 16"/>
          <p:cNvSpPr/>
          <p:nvPr/>
        </p:nvSpPr>
        <p:spPr>
          <a:xfrm>
            <a:off x="3749040" y="2971800"/>
            <a:ext cx="4663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ADAPTIVE CLIENT SELECTION MODULE — rank &amp; select top-scoring clients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6035040" y="3657600"/>
            <a:ext cx="0" cy="502920"/>
          </a:xfrm>
          <a:prstGeom prst="line">
            <a:avLst/>
          </a:prstGeom>
          <a:noFill/>
          <a:ln w="25400">
            <a:solidFill>
              <a:srgbClr val="00A896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2103120" y="4160520"/>
            <a:ext cx="4206240" cy="868680"/>
          </a:xfrm>
          <a:prstGeom prst="roundRect">
            <a:avLst>
              <a:gd name="adj" fmla="val 8421"/>
            </a:avLst>
          </a:prstGeom>
          <a:solidFill>
            <a:srgbClr val="052E33"/>
          </a:solidFill>
          <a:ln/>
        </p:spPr>
      </p:sp>
      <p:sp>
        <p:nvSpPr>
          <p:cNvPr id="21" name="Text 19"/>
          <p:cNvSpPr/>
          <p:nvPr/>
        </p:nvSpPr>
        <p:spPr>
          <a:xfrm>
            <a:off x="2103120" y="4160520"/>
            <a:ext cx="42062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Central Server: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Weighted Aggregation → Global Model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6309360" y="4590288"/>
            <a:ext cx="1600200" cy="0"/>
          </a:xfrm>
          <a:prstGeom prst="line">
            <a:avLst/>
          </a:prstGeom>
          <a:noFill/>
          <a:ln w="25400">
            <a:solidFill>
              <a:srgbClr val="02C39A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7909560" y="4160520"/>
            <a:ext cx="3291840" cy="868680"/>
          </a:xfrm>
          <a:prstGeom prst="roundRect">
            <a:avLst>
              <a:gd name="adj" fmla="val 8421"/>
            </a:avLst>
          </a:prstGeom>
          <a:solidFill>
            <a:srgbClr val="02C39A"/>
          </a:solidFill>
          <a:ln/>
        </p:spPr>
      </p:sp>
      <p:sp>
        <p:nvSpPr>
          <p:cNvPr id="24" name="Text 22"/>
          <p:cNvSpPr/>
          <p:nvPr/>
        </p:nvSpPr>
        <p:spPr>
          <a:xfrm>
            <a:off x="7909560" y="4160520"/>
            <a:ext cx="32918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052E33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Explainability: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052E33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Grad-CAM + SHAP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11292840" y="4590288"/>
            <a:ext cx="0" cy="0"/>
          </a:xfrm>
          <a:prstGeom prst="line">
            <a:avLst/>
          </a:prstGeom>
          <a:noFill/>
          <a:ln w="15875">
            <a:solidFill>
              <a:srgbClr val="748A8C"/>
            </a:solidFill>
            <a:prstDash val="dash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9921240" y="1938528"/>
            <a:ext cx="1371600" cy="0"/>
          </a:xfrm>
          <a:prstGeom prst="line">
            <a:avLst/>
          </a:prstGeom>
          <a:noFill/>
          <a:ln w="15875">
            <a:solidFill>
              <a:srgbClr val="748A8C"/>
            </a:solidFill>
            <a:prstDash val="dash"/>
          </a:ln>
        </p:spPr>
      </p:sp>
      <p:sp>
        <p:nvSpPr>
          <p:cNvPr id="27" name="Text 25"/>
          <p:cNvSpPr/>
          <p:nvPr/>
        </p:nvSpPr>
        <p:spPr>
          <a:xfrm>
            <a:off x="9052560" y="5038343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Updated global model broadcast to all clients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48640" y="544068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just">
              <a:lnSpc>
                <a:spcPct val="120000"/>
              </a:lnSpc>
              <a:buNone/>
            </a:pPr>
            <a:r>
              <a:rPr lang="en-US" sz="14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Client contributions are weighted by both dataset size and selection score, so unreliable or incomplete clients influence the global model less — without ever exposing raw patient data.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1155161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48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57200" y="644652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BUBT · CSE Capstone</a:t>
            </a:r>
            <a:endParaRPr lang="en-US" sz="10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kern="0" spc="200" dirty="0">
                <a:solidFill>
                  <a:srgbClr val="00A896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DATA &amp; REQUIREMENTS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607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2E2C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Simulating a Realistic Hospital Federation</a:t>
            </a:r>
            <a:endParaRPr 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3529584" cy="2834640"/>
          </a:xfrm>
          <a:prstGeom prst="roundRect">
            <a:avLst>
              <a:gd name="adj" fmla="val 3226"/>
            </a:avLst>
          </a:prstGeom>
          <a:solidFill>
            <a:srgbClr val="F4FBFA"/>
          </a:solidFill>
          <a:ln w="9525">
            <a:solidFill>
              <a:srgbClr val="DCE7E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508760"/>
            <a:ext cx="3529584" cy="502920"/>
          </a:xfrm>
          <a:prstGeom prst="roundRect">
            <a:avLst>
              <a:gd name="adj" fmla="val 18182"/>
            </a:avLst>
          </a:prstGeom>
          <a:solidFill>
            <a:srgbClr val="028090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1783080"/>
            <a:ext cx="3529584" cy="2286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508760"/>
            <a:ext cx="352958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ADNI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597408" y="1797961"/>
            <a:ext cx="3529584" cy="7315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00A896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2,000+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597408" y="2491784"/>
            <a:ext cx="35295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participants · 60+ sites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904001" y="3081528"/>
            <a:ext cx="3072384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just">
              <a:lnSpc>
                <a:spcPct val="120000"/>
              </a:lnSpc>
              <a:buNone/>
            </a:pPr>
            <a:r>
              <a:rPr lang="en-US" sz="1600" dirty="0">
                <a:solidFill>
                  <a:srgbClr val="33454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Longitudinal, multi-site study (ADNI-1 to ADNI-4) with structural MRI, PET, genetic, and cognitive data across the US and Canada.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4306824" y="1508760"/>
            <a:ext cx="3529584" cy="2834640"/>
          </a:xfrm>
          <a:prstGeom prst="roundRect">
            <a:avLst>
              <a:gd name="adj" fmla="val 3226"/>
            </a:avLst>
          </a:prstGeom>
          <a:solidFill>
            <a:srgbClr val="F4FBFA"/>
          </a:solidFill>
          <a:ln w="9525">
            <a:solidFill>
              <a:srgbClr val="DCE7E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306824" y="1508760"/>
            <a:ext cx="3529584" cy="502920"/>
          </a:xfrm>
          <a:prstGeom prst="roundRect">
            <a:avLst>
              <a:gd name="adj" fmla="val 18182"/>
            </a:avLst>
          </a:prstGeom>
          <a:solidFill>
            <a:srgbClr val="028090"/>
          </a:solidFill>
          <a:ln/>
        </p:spPr>
      </p:sp>
      <p:sp>
        <p:nvSpPr>
          <p:cNvPr id="13" name="Shape 11"/>
          <p:cNvSpPr/>
          <p:nvPr/>
        </p:nvSpPr>
        <p:spPr>
          <a:xfrm>
            <a:off x="4306824" y="1783080"/>
            <a:ext cx="3529584" cy="2286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4" name="Text 12"/>
          <p:cNvSpPr/>
          <p:nvPr/>
        </p:nvSpPr>
        <p:spPr>
          <a:xfrm>
            <a:off x="4306824" y="1508760"/>
            <a:ext cx="352958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OASIS-3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4306824" y="1797961"/>
            <a:ext cx="3529584" cy="7315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00A896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1,378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4331208" y="2560320"/>
            <a:ext cx="35295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participants · 3 decades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4559808" y="3108960"/>
            <a:ext cx="3072384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just">
              <a:lnSpc>
                <a:spcPct val="120000"/>
              </a:lnSpc>
              <a:buNone/>
            </a:pPr>
            <a:r>
              <a:rPr lang="en-US" sz="1600" dirty="0">
                <a:solidFill>
                  <a:srgbClr val="33454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755 cognitively normal adults and 622 individuals at varying decline stages, with 2,800+ MRI and 2,100+ PET sessions.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8065008" y="1508760"/>
            <a:ext cx="3529584" cy="2834640"/>
          </a:xfrm>
          <a:prstGeom prst="roundRect">
            <a:avLst>
              <a:gd name="adj" fmla="val 3226"/>
            </a:avLst>
          </a:prstGeom>
          <a:solidFill>
            <a:srgbClr val="F4FBFA"/>
          </a:solidFill>
          <a:ln w="9525">
            <a:solidFill>
              <a:srgbClr val="DCE7E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065008" y="1508760"/>
            <a:ext cx="3529584" cy="502920"/>
          </a:xfrm>
          <a:prstGeom prst="roundRect">
            <a:avLst>
              <a:gd name="adj" fmla="val 18182"/>
            </a:avLst>
          </a:prstGeom>
          <a:solidFill>
            <a:srgbClr val="028090"/>
          </a:solidFill>
          <a:ln/>
        </p:spPr>
      </p:sp>
      <p:sp>
        <p:nvSpPr>
          <p:cNvPr id="20" name="Shape 18"/>
          <p:cNvSpPr/>
          <p:nvPr/>
        </p:nvSpPr>
        <p:spPr>
          <a:xfrm>
            <a:off x="8065008" y="1783080"/>
            <a:ext cx="3529584" cy="2286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21" name="Text 19"/>
          <p:cNvSpPr/>
          <p:nvPr/>
        </p:nvSpPr>
        <p:spPr>
          <a:xfrm>
            <a:off x="8065008" y="1508760"/>
            <a:ext cx="352958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Clinical Risk Dataset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8016240" y="1743097"/>
            <a:ext cx="3529584" cy="7315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00A896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Multi-country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8065008" y="2514600"/>
            <a:ext cx="35295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structured tabular data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8293608" y="3108960"/>
            <a:ext cx="3072384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just">
              <a:lnSpc>
                <a:spcPct val="120000"/>
              </a:lnSpc>
              <a:buNone/>
            </a:pPr>
            <a:r>
              <a:rPr lang="en-US" sz="1600" dirty="0">
                <a:solidFill>
                  <a:srgbClr val="33454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Demographics, lifestyle &amp; cardiovascular factors, cognitive scores, and genetic markers (incl. APOE ε4), partitioned by country.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548640" y="457200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2E2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Non-IID partitioning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548640" y="4892040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just">
              <a:lnSpc>
                <a:spcPct val="120000"/>
              </a:lnSpc>
              <a:buNone/>
            </a:pPr>
            <a:r>
              <a:rPr lang="en-US" sz="1400" dirty="0">
                <a:solidFill>
                  <a:srgbClr val="33454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Clients are split by acquisition site or recorded country — not balanced at random — so each client reflects a realistic single-institution population with its own class mix and modality completeness. This heterogeneity is exactly what the client selection module is built to handle.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548640" y="580644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Preprocessing: MRI resampled &amp; patch-tokenized for ViT input · clinical fields normalised / one-hot encoded · missing values explicitly flagged for the completeness score.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1155161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48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57200" y="644652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BUBT · CSE Capstone</a:t>
            </a:r>
            <a:endParaRPr lang="en-US" sz="10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kern="0" spc="200" dirty="0">
                <a:solidFill>
                  <a:srgbClr val="00A896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ALGORITHM &amp; MODEL DESIGN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607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2E2C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A Multimodal Model, Fine-Tuned With LoRA</a:t>
            </a:r>
            <a:endParaRPr 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7360920" cy="896112"/>
          </a:xfrm>
          <a:prstGeom prst="roundRect">
            <a:avLst>
              <a:gd name="adj" fmla="val 8163"/>
            </a:avLst>
          </a:prstGeom>
          <a:solidFill>
            <a:srgbClr val="F4FBFA"/>
          </a:solidFill>
          <a:ln w="9525">
            <a:solidFill>
              <a:srgbClr val="DCE7E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53619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2809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Imaging branch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777240" y="182880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0F2E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hᵥ = ViT(xᵥ)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2743200" y="1463040"/>
            <a:ext cx="5029200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just">
              <a:lnSpc>
                <a:spcPct val="115000"/>
              </a:lnSpc>
              <a:buNone/>
            </a:pPr>
            <a:r>
              <a:rPr lang="en-US" sz="1600" dirty="0">
                <a:solidFill>
                  <a:srgbClr val="33454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 pretrained Vision Transformer encodes each client's MRI scan into a shared representation space.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Shape 6"/>
          <p:cNvSpPr/>
          <p:nvPr/>
        </p:nvSpPr>
        <p:spPr>
          <a:xfrm>
            <a:off x="548640" y="2468880"/>
            <a:ext cx="7360920" cy="896112"/>
          </a:xfrm>
          <a:prstGeom prst="roundRect">
            <a:avLst>
              <a:gd name="adj" fmla="val 8163"/>
            </a:avLst>
          </a:prstGeom>
          <a:solidFill>
            <a:srgbClr val="FFFFFF"/>
          </a:solidFill>
          <a:ln w="9525">
            <a:solidFill>
              <a:srgbClr val="DCE7E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254203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2809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Clinical branch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777240" y="283464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0F2E2C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h_c = MLP(x_c)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2743200" y="2468880"/>
            <a:ext cx="5029200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just">
              <a:lnSpc>
                <a:spcPct val="115000"/>
              </a:lnSpc>
              <a:buNone/>
            </a:pPr>
            <a:r>
              <a:rPr lang="en-US" sz="1600" dirty="0">
                <a:solidFill>
                  <a:srgbClr val="33454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 lightweight feed-forward network encodes demographic, cognitive, and genetic risk variables.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548640" y="3474720"/>
            <a:ext cx="7360920" cy="896112"/>
          </a:xfrm>
          <a:prstGeom prst="roundRect">
            <a:avLst>
              <a:gd name="adj" fmla="val 8163"/>
            </a:avLst>
          </a:prstGeom>
          <a:solidFill>
            <a:srgbClr val="F4FBFA"/>
          </a:solidFill>
          <a:ln w="9525">
            <a:solidFill>
              <a:srgbClr val="DCE7E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77240" y="354787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2809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Fusion layer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777240" y="384048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0F2E2C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h = ReLU(Wf[hᵥ; h_c] + bf)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2743200" y="3474720"/>
            <a:ext cx="5029200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just">
              <a:lnSpc>
                <a:spcPct val="115000"/>
              </a:lnSpc>
              <a:buNone/>
            </a:pPr>
            <a:r>
              <a:rPr lang="en-US" sz="1600" dirty="0">
                <a:solidFill>
                  <a:srgbClr val="33454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The two representations are concatenated and passed through a fully connected fusion layer.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548640" y="4480560"/>
            <a:ext cx="7360920" cy="896112"/>
          </a:xfrm>
          <a:prstGeom prst="roundRect">
            <a:avLst>
              <a:gd name="adj" fmla="val 8163"/>
            </a:avLst>
          </a:prstGeom>
          <a:solidFill>
            <a:srgbClr val="FFFFFF"/>
          </a:solidFill>
          <a:ln w="9525">
            <a:solidFill>
              <a:srgbClr val="DCE7E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77240" y="455371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2809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Prediction head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777240" y="48463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0F2E2C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p = softmax(W₀h + b₀)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2743200" y="4480560"/>
            <a:ext cx="5029200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just">
              <a:lnSpc>
                <a:spcPct val="115000"/>
              </a:lnSpc>
              <a:buNone/>
            </a:pPr>
            <a:r>
              <a:rPr lang="en-US" sz="1600" dirty="0">
                <a:solidFill>
                  <a:srgbClr val="33454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 classification head reads the diagnostic prediction (e.g. CN / MCI / AD) from the fused vector.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8138160" y="1463040"/>
            <a:ext cx="3520440" cy="4256442"/>
          </a:xfrm>
          <a:prstGeom prst="roundRect">
            <a:avLst>
              <a:gd name="adj" fmla="val 2597"/>
            </a:avLst>
          </a:prstGeom>
          <a:solidFill>
            <a:srgbClr val="052E33"/>
          </a:solidFill>
          <a:ln/>
        </p:spPr>
      </p:sp>
      <p:sp>
        <p:nvSpPr>
          <p:cNvPr id="21" name="Text 19"/>
          <p:cNvSpPr/>
          <p:nvPr/>
        </p:nvSpPr>
        <p:spPr>
          <a:xfrm>
            <a:off x="8412480" y="1691640"/>
            <a:ext cx="3017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02C39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PARAMETER-EFFICIENT FINE-TUNING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8412480" y="224028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i="1" dirty="0">
                <a:solidFill>
                  <a:srgbClr val="FFFFFF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W = W₀ + BA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8412480" y="2743200"/>
            <a:ext cx="30175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just">
              <a:lnSpc>
                <a:spcPct val="120000"/>
              </a:lnSpc>
              <a:buNone/>
            </a:pPr>
            <a:r>
              <a:rPr lang="en-US" sz="1400" dirty="0">
                <a:solidFill>
                  <a:srgbClr val="CFE8E5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Only the low-rank matrices A and B are trained and transmitted per client — the large pretrained backbone W₀ stays frozen.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8412480" y="3886200"/>
            <a:ext cx="3017520" cy="0"/>
          </a:xfrm>
          <a:prstGeom prst="line">
            <a:avLst/>
          </a:prstGeom>
          <a:noFill/>
          <a:ln w="9525">
            <a:solidFill>
              <a:srgbClr val="00A89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412480" y="402336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2C39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Why it matters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8412480" y="4437081"/>
            <a:ext cx="30175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just">
              <a:lnSpc>
                <a:spcPct val="120000"/>
              </a:lnSpc>
              <a:buNone/>
            </a:pPr>
            <a:r>
              <a:rPr lang="en-US" sz="1400" dirty="0">
                <a:solidFill>
                  <a:srgbClr val="CFE8E5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Sharply reduces the communication payload each resource-constrained hospital client must send every round — making federated fine-tuning of a large foundation model practical.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1155161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48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57200" y="644652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BUBT · CSE Capstone</a:t>
            </a:r>
            <a:endParaRPr lang="en-US" sz="10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kern="0" spc="200" dirty="0">
                <a:solidFill>
                  <a:srgbClr val="00A896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CLIENT SELECTION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607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2E2C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Scoring Every Client Before Each Round</a:t>
            </a:r>
            <a:endParaRPr 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6858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i="1" dirty="0">
                <a:solidFill>
                  <a:srgbClr val="028090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Sₖ = w_Q·Qₖ + w_C·Cₖ + w_B·Bₖ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548640" y="1874520"/>
            <a:ext cx="6858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Weighted client score, computed locally before every aggregation round t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548640" y="2423160"/>
            <a:ext cx="6858000" cy="868680"/>
          </a:xfrm>
          <a:prstGeom prst="roundRect">
            <a:avLst>
              <a:gd name="adj" fmla="val 8421"/>
            </a:avLst>
          </a:prstGeom>
          <a:solidFill>
            <a:srgbClr val="EAF6F4"/>
          </a:solidFill>
          <a:ln/>
        </p:spPr>
      </p:sp>
      <p:sp>
        <p:nvSpPr>
          <p:cNvPr id="7" name="Text 5"/>
          <p:cNvSpPr/>
          <p:nvPr/>
        </p:nvSpPr>
        <p:spPr>
          <a:xfrm>
            <a:off x="762000" y="2432304"/>
            <a:ext cx="6400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2E2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Q — Data Quality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762000" y="2779776"/>
            <a:ext cx="6400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just">
              <a:lnSpc>
                <a:spcPct val="115000"/>
              </a:lnSpc>
              <a:buNone/>
            </a:pPr>
            <a:r>
              <a:rPr lang="en-US" sz="1600" dirty="0">
                <a:solidFill>
                  <a:srgbClr val="33454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Image resolution / artifact indicators and the fraction of non-missing clinical fields.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548640" y="3447288"/>
            <a:ext cx="6858000" cy="868680"/>
          </a:xfrm>
          <a:prstGeom prst="roundRect">
            <a:avLst>
              <a:gd name="adj" fmla="val 8421"/>
            </a:avLst>
          </a:prstGeom>
          <a:solidFill>
            <a:srgbClr val="EAF6F4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3479292"/>
            <a:ext cx="6400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2E2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 — Modality Completeness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762000" y="3803904"/>
            <a:ext cx="6400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just">
              <a:lnSpc>
                <a:spcPct val="115000"/>
              </a:lnSpc>
              <a:buNone/>
            </a:pPr>
            <a:r>
              <a:rPr lang="en-US" sz="1600" dirty="0">
                <a:solidFill>
                  <a:srgbClr val="33454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Fraction of local instances that have both a linked MRI scan and a clinical record.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548640" y="4471416"/>
            <a:ext cx="6858000" cy="868680"/>
          </a:xfrm>
          <a:prstGeom prst="roundRect">
            <a:avLst>
              <a:gd name="adj" fmla="val 8421"/>
            </a:avLst>
          </a:prstGeom>
          <a:solidFill>
            <a:srgbClr val="EAF6F4"/>
          </a:solidFill>
          <a:ln/>
        </p:spPr>
      </p:sp>
      <p:sp>
        <p:nvSpPr>
          <p:cNvPr id="13" name="Text 11"/>
          <p:cNvSpPr/>
          <p:nvPr/>
        </p:nvSpPr>
        <p:spPr>
          <a:xfrm>
            <a:off x="777240" y="4489704"/>
            <a:ext cx="6400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2E2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B — Class Balance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777240" y="4818888"/>
            <a:ext cx="6400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just">
              <a:lnSpc>
                <a:spcPct val="115000"/>
              </a:lnSpc>
              <a:buNone/>
            </a:pPr>
            <a:r>
              <a:rPr lang="en-US" sz="1600" dirty="0">
                <a:solidFill>
                  <a:srgbClr val="33454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Inverse of the class-imbalance ratio within the client's local diagnostic labels.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7818120" y="1371600"/>
            <a:ext cx="3840480" cy="4754880"/>
          </a:xfrm>
          <a:prstGeom prst="roundRect">
            <a:avLst>
              <a:gd name="adj" fmla="val 2381"/>
            </a:avLst>
          </a:prstGeom>
          <a:solidFill>
            <a:srgbClr val="052E33"/>
          </a:solidFill>
          <a:ln/>
        </p:spPr>
      </p:sp>
      <p:sp>
        <p:nvSpPr>
          <p:cNvPr id="16" name="Text 14"/>
          <p:cNvSpPr/>
          <p:nvPr/>
        </p:nvSpPr>
        <p:spPr>
          <a:xfrm>
            <a:off x="8092440" y="1572768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100" dirty="0">
                <a:solidFill>
                  <a:srgbClr val="02C39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ALGORITHM 1 — CLIENT SELECTION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8092440" y="2057400"/>
            <a:ext cx="310896" cy="31089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8" name="Text 16"/>
          <p:cNvSpPr/>
          <p:nvPr/>
        </p:nvSpPr>
        <p:spPr>
          <a:xfrm>
            <a:off x="8092440" y="2039112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5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8549640" y="2002536"/>
            <a:ext cx="2880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For each client k, compute Qₖ, Cₖ, Bₖ from local data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8092440" y="2715768"/>
            <a:ext cx="310896" cy="31089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21" name="Text 19"/>
          <p:cNvSpPr/>
          <p:nvPr/>
        </p:nvSpPr>
        <p:spPr>
          <a:xfrm>
            <a:off x="8092440" y="269748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5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8549640" y="2660904"/>
            <a:ext cx="2880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Combine: Sₖ ← w_Q·Qₖ + w_C·Cₖ + w_B·Bₖ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8092440" y="3374136"/>
            <a:ext cx="310896" cy="31089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24" name="Text 22"/>
          <p:cNvSpPr/>
          <p:nvPr/>
        </p:nvSpPr>
        <p:spPr>
          <a:xfrm>
            <a:off x="8092440" y="3355848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5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8549640" y="3319272"/>
            <a:ext cx="2880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Rank all clients by score Sₖ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8092440" y="4032504"/>
            <a:ext cx="310896" cy="31089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27" name="Text 25"/>
          <p:cNvSpPr/>
          <p:nvPr/>
        </p:nvSpPr>
        <p:spPr>
          <a:xfrm>
            <a:off x="8092440" y="4014216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5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8549640" y="3977640"/>
            <a:ext cx="2880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Select the top-m clients as Kₜ for this round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Shape 27"/>
          <p:cNvSpPr/>
          <p:nvPr/>
        </p:nvSpPr>
        <p:spPr>
          <a:xfrm>
            <a:off x="8092440" y="4690872"/>
            <a:ext cx="310896" cy="31089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30" name="Text 28"/>
          <p:cNvSpPr/>
          <p:nvPr/>
        </p:nvSpPr>
        <p:spPr>
          <a:xfrm>
            <a:off x="8092440" y="4672584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5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8549640" y="4636008"/>
            <a:ext cx="2880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Return Kₜ to the central server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" name="Shape 30"/>
          <p:cNvSpPr/>
          <p:nvPr/>
        </p:nvSpPr>
        <p:spPr>
          <a:xfrm>
            <a:off x="8092440" y="5394960"/>
            <a:ext cx="3291840" cy="0"/>
          </a:xfrm>
          <a:prstGeom prst="line">
            <a:avLst/>
          </a:prstGeom>
          <a:noFill/>
          <a:ln w="9525">
            <a:solidFill>
              <a:srgbClr val="00A89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092440" y="5486400"/>
            <a:ext cx="3291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i="1" dirty="0">
                <a:solidFill>
                  <a:srgbClr val="CFE8E5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Only aggregate statistics leave each hospital — raw patient data never does.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" name="Text 32"/>
          <p:cNvSpPr/>
          <p:nvPr/>
        </p:nvSpPr>
        <p:spPr>
          <a:xfrm>
            <a:off x="1155161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48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457200" y="644652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BUBT · CSE Capstone</a:t>
            </a:r>
            <a:endParaRPr lang="en-US" sz="10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kern="0" spc="200" dirty="0">
                <a:solidFill>
                  <a:srgbClr val="00A896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FEDERATED AGGREGATION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607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2E2C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From Selected Clients to an Updated Global Model</a:t>
            </a:r>
            <a:endParaRPr 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5394960" cy="960120"/>
          </a:xfrm>
          <a:prstGeom prst="roundRect">
            <a:avLst>
              <a:gd name="adj" fmla="val 7619"/>
            </a:avLst>
          </a:prstGeom>
          <a:solidFill>
            <a:srgbClr val="EAF6F4"/>
          </a:solidFill>
          <a:ln/>
        </p:spPr>
      </p:sp>
      <p:sp>
        <p:nvSpPr>
          <p:cNvPr id="5" name="Text 3"/>
          <p:cNvSpPr/>
          <p:nvPr/>
        </p:nvSpPr>
        <p:spPr>
          <a:xfrm>
            <a:off x="807721" y="1402259"/>
            <a:ext cx="4937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i="1" dirty="0">
                <a:solidFill>
                  <a:srgbClr val="028090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θₜ₊₁ = Σₖ∈Kₜ [ (nₖ·Sₖ) / Σⱼ∈Kₜ nⱼ·Sⱼ ] · θₖ⁽ᵗ⁾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777240" y="1984248"/>
            <a:ext cx="4937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i="1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Extends FedAvg: contribution weighted by BOTH dataset size nₖ AND selection score Sₖ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548640" y="2606040"/>
            <a:ext cx="5943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2E2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Algorithm 2 — One Federated Training Round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Shape 6"/>
          <p:cNvSpPr/>
          <p:nvPr/>
        </p:nvSpPr>
        <p:spPr>
          <a:xfrm>
            <a:off x="548640" y="3017520"/>
            <a:ext cx="347472" cy="347472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2999232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051560" y="2971800"/>
            <a:ext cx="5349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33454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Selected clients k ∈ Kₜ initialise local LoRA parameters from global θₜ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548640" y="3593592"/>
            <a:ext cx="347472" cy="347472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3575304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051560" y="3547872"/>
            <a:ext cx="5349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33454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Each client fine-tunes locally on its (imaging, clinical, label) data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548640" y="4169664"/>
            <a:ext cx="347472" cy="347472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4151376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051560" y="4123944"/>
            <a:ext cx="5349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33454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Each client returns its updated local parameters and score Sₖ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548640" y="4745736"/>
            <a:ext cx="347472" cy="347472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" y="4727448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051560" y="4700016"/>
            <a:ext cx="5349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33454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Server aggregates via the weighted-average rule above → θₜ₊₁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548640" y="5321808"/>
            <a:ext cx="347472" cy="347472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1" name="Text 19"/>
          <p:cNvSpPr/>
          <p:nvPr/>
        </p:nvSpPr>
        <p:spPr>
          <a:xfrm>
            <a:off x="548640" y="530352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051560" y="5276088"/>
            <a:ext cx="5349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33454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θₜ₊₁ is broadcast back to all clients for the next round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6446520" y="1417320"/>
            <a:ext cx="5166360" cy="4709160"/>
          </a:xfrm>
          <a:prstGeom prst="roundRect">
            <a:avLst>
              <a:gd name="adj" fmla="val 1942"/>
            </a:avLst>
          </a:prstGeom>
          <a:solidFill>
            <a:srgbClr val="F4FBFA"/>
          </a:solidFill>
          <a:ln w="9525">
            <a:solidFill>
              <a:srgbClr val="DCE7E6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6720840" y="1627632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1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PLANNED ABLATION STUDY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6720840" y="2103120"/>
            <a:ext cx="365760" cy="36576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26" name="Text 24"/>
          <p:cNvSpPr/>
          <p:nvPr/>
        </p:nvSpPr>
        <p:spPr>
          <a:xfrm>
            <a:off x="6720840" y="208483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A1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7223760" y="2075688"/>
            <a:ext cx="4160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2E2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Selection vs. random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7223760" y="2359152"/>
            <a:ext cx="4160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33454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Replace adaptive selection with random sampling to isolate its effect.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Shape 27"/>
          <p:cNvSpPr/>
          <p:nvPr/>
        </p:nvSpPr>
        <p:spPr>
          <a:xfrm>
            <a:off x="6720840" y="2999232"/>
            <a:ext cx="365760" cy="36576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30" name="Text 28"/>
          <p:cNvSpPr/>
          <p:nvPr/>
        </p:nvSpPr>
        <p:spPr>
          <a:xfrm>
            <a:off x="6720840" y="298094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A2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7223760" y="2971800"/>
            <a:ext cx="4160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2E2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Weighted vs. plain FedAvg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" name="Text 30"/>
          <p:cNvSpPr/>
          <p:nvPr/>
        </p:nvSpPr>
        <p:spPr>
          <a:xfrm>
            <a:off x="7223760" y="3255264"/>
            <a:ext cx="4160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33454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Replace weighted aggregation (Eq. 7) with unweighted FedAvg.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Shape 31"/>
          <p:cNvSpPr/>
          <p:nvPr/>
        </p:nvSpPr>
        <p:spPr>
          <a:xfrm>
            <a:off x="6720840" y="3895344"/>
            <a:ext cx="365760" cy="36576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34" name="Text 32"/>
          <p:cNvSpPr/>
          <p:nvPr/>
        </p:nvSpPr>
        <p:spPr>
          <a:xfrm>
            <a:off x="6720840" y="3877056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A3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7223760" y="3867912"/>
            <a:ext cx="4160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2E2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Modality contribution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6" name="Text 34"/>
          <p:cNvSpPr/>
          <p:nvPr/>
        </p:nvSpPr>
        <p:spPr>
          <a:xfrm>
            <a:off x="7223760" y="4151376"/>
            <a:ext cx="4160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33454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Restrict input to MRI-only or clinical-only to measure fusion's value.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7" name="Shape 35"/>
          <p:cNvSpPr/>
          <p:nvPr/>
        </p:nvSpPr>
        <p:spPr>
          <a:xfrm>
            <a:off x="6720840" y="4791456"/>
            <a:ext cx="365760" cy="36576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38" name="Text 36"/>
          <p:cNvSpPr/>
          <p:nvPr/>
        </p:nvSpPr>
        <p:spPr>
          <a:xfrm>
            <a:off x="6720840" y="477316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A4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7223760" y="4764024"/>
            <a:ext cx="4160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2E2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Vs. FedCor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0" name="Text 38"/>
          <p:cNvSpPr/>
          <p:nvPr/>
        </p:nvSpPr>
        <p:spPr>
          <a:xfrm>
            <a:off x="7223760" y="5047488"/>
            <a:ext cx="4160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33454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Compare the proposed score against correlation-based selection.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1" name="Text 39"/>
          <p:cNvSpPr/>
          <p:nvPr/>
        </p:nvSpPr>
        <p:spPr>
          <a:xfrm>
            <a:off x="1155161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48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457200" y="644652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BUBT · CSE Capstone</a:t>
            </a:r>
            <a:endParaRPr lang="en-US" sz="10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kern="0" spc="200" dirty="0">
                <a:solidFill>
                  <a:srgbClr val="00A896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EXPLAINABILITY MODULE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607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2E2C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Evidence Clinicians Can Trust</a:t>
            </a:r>
            <a:endParaRPr 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5349240" cy="3977640"/>
          </a:xfrm>
          <a:prstGeom prst="roundRect">
            <a:avLst>
              <a:gd name="adj" fmla="val 2299"/>
            </a:avLst>
          </a:prstGeom>
          <a:solidFill>
            <a:srgbClr val="F4FBFA"/>
          </a:solidFill>
          <a:ln w="9525">
            <a:solidFill>
              <a:srgbClr val="DCE7E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8680" y="1810512"/>
            <a:ext cx="548640" cy="54864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792224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IMG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600200" y="182880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2E2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Grad-CAM — Imaging Branch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868680" y="2514600"/>
            <a:ext cx="47091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just">
              <a:lnSpc>
                <a:spcPct val="125000"/>
              </a:lnSpc>
              <a:buNone/>
            </a:pPr>
            <a:r>
              <a:rPr lang="en-US" sz="1600" dirty="0">
                <a:solidFill>
                  <a:srgbClr val="33454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Uses the gradient of the predicted class with respect to the ViT's attention feature maps to localise which regions of the MRI most influenced the prediction — a coarse but clinically intuitive heat-map.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868680" y="3703320"/>
            <a:ext cx="4709160" cy="0"/>
          </a:xfrm>
          <a:prstGeom prst="line">
            <a:avLst/>
          </a:prstGeom>
          <a:noFill/>
          <a:ln w="12700">
            <a:solidFill>
              <a:srgbClr val="DCE7E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68680" y="3886200"/>
            <a:ext cx="4709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2809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Answers: “Which part of the scan drove this result?”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868680" y="4343400"/>
            <a:ext cx="4709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Standard tool for explaining image-based medical predictions (Selvaraju et al., 2017).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6263640" y="1508760"/>
            <a:ext cx="5349240" cy="3977640"/>
          </a:xfrm>
          <a:prstGeom prst="roundRect">
            <a:avLst>
              <a:gd name="adj" fmla="val 2299"/>
            </a:avLst>
          </a:prstGeom>
          <a:solidFill>
            <a:srgbClr val="F4FBFA"/>
          </a:solidFill>
          <a:ln w="9525">
            <a:solidFill>
              <a:srgbClr val="DCE7E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583680" y="1810512"/>
            <a:ext cx="548640" cy="54864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4" name="Text 12"/>
          <p:cNvSpPr/>
          <p:nvPr/>
        </p:nvSpPr>
        <p:spPr>
          <a:xfrm>
            <a:off x="6583680" y="1792224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CLN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7315200" y="182880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2E2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SHAP — Clinical Branch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6409765" y="2514600"/>
            <a:ext cx="5141849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just">
              <a:lnSpc>
                <a:spcPct val="125000"/>
              </a:lnSpc>
              <a:buNone/>
            </a:pPr>
            <a:r>
              <a:rPr lang="en-US" sz="1600" dirty="0">
                <a:solidFill>
                  <a:srgbClr val="33454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 game-theoretically grounded attribution method that assigns each structured clinical or demographic variable a contribution toward the model's prediction — directly applicable to age, cognitive scores, and genetic markers.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6583679" y="3775037"/>
            <a:ext cx="4709160" cy="0"/>
          </a:xfrm>
          <a:prstGeom prst="line">
            <a:avLst/>
          </a:prstGeom>
          <a:noFill/>
          <a:ln w="12700">
            <a:solidFill>
              <a:srgbClr val="DCE7E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583680" y="3886200"/>
            <a:ext cx="4709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0A896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Answers: “Which clinical factors mattered most?”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6583680" y="4343400"/>
            <a:ext cx="4709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Unified attribution framework (Lundberg &amp; Lee, 2017), applied to the clinical encoder's inputs.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548640" y="562356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2809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 clinician reviewing a flagged case sees both the imaging evidence and the clinical evidence behind it — together.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1155161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48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57200" y="644652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BUBT · CSE Capstone</a:t>
            </a:r>
            <a:endParaRPr lang="en-US" sz="10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kern="0" spc="200" dirty="0">
                <a:solidFill>
                  <a:srgbClr val="00A896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ENGINEERING RIGOR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607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2E2C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Complex Engineering Analysis, Ethics &amp; Constraints</a:t>
            </a:r>
            <a:endParaRPr 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kern="0" spc="100" dirty="0">
                <a:solidFill>
                  <a:srgbClr val="00A896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COMPLEX ENGINEERING PROBLEM ATTRIBUTES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548640" y="1874206"/>
            <a:ext cx="5852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2809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Depth of knowledge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533400" y="2167128"/>
            <a:ext cx="58521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just">
              <a:lnSpc>
                <a:spcPct val="120000"/>
              </a:lnSpc>
              <a:buNone/>
            </a:pPr>
            <a:r>
              <a:rPr lang="en-US" sz="1600" dirty="0">
                <a:solidFill>
                  <a:srgbClr val="33454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Spans vision foundation models, LoRA, federated optimisation, and client-heterogeneity statistics.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506506" y="2990088"/>
            <a:ext cx="5852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2809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Conflicting requirements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548640" y="3283010"/>
            <a:ext cx="58521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just">
              <a:lnSpc>
                <a:spcPct val="120000"/>
              </a:lnSpc>
              <a:buNone/>
            </a:pPr>
            <a:r>
              <a:rPr lang="en-US" sz="1600" dirty="0">
                <a:solidFill>
                  <a:srgbClr val="33454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Accuracy, communication cost, privacy, and cross-client fairness compete with one another.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548640" y="4003100"/>
            <a:ext cx="5852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2809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Interdependence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548640" y="4270248"/>
            <a:ext cx="58521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just">
              <a:lnSpc>
                <a:spcPct val="120000"/>
              </a:lnSpc>
              <a:buNone/>
            </a:pPr>
            <a:r>
              <a:rPr lang="en-US" sz="1600" dirty="0">
                <a:solidFill>
                  <a:srgbClr val="33454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Client scoring, weighted aggregation, and foundation-model fine-tuning are mutually dependent.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548640" y="5029200"/>
            <a:ext cx="5852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kern="0" spc="100" dirty="0">
                <a:solidFill>
                  <a:srgbClr val="00A896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ENGINEERING ACTIVITY: INNOVATION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533400" y="5372100"/>
            <a:ext cx="5852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just">
              <a:lnSpc>
                <a:spcPct val="120000"/>
              </a:lnSpc>
              <a:buNone/>
            </a:pPr>
            <a:r>
              <a:rPr lang="en-US" sz="1600" dirty="0">
                <a:solidFill>
                  <a:srgbClr val="33454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Combines a data-quality-aware client selection mechanism with a multimodal vision foundation model for Alzheimer's diagnosis — a pairing absent from the reviewed literature.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6720840" y="1371600"/>
            <a:ext cx="4937760" cy="4892040"/>
          </a:xfrm>
          <a:prstGeom prst="roundRect">
            <a:avLst>
              <a:gd name="adj" fmla="val 1869"/>
            </a:avLst>
          </a:prstGeom>
          <a:solidFill>
            <a:srgbClr val="052E33"/>
          </a:solidFill>
          <a:ln/>
        </p:spPr>
      </p:sp>
      <p:sp>
        <p:nvSpPr>
          <p:cNvPr id="14" name="Text 12"/>
          <p:cNvSpPr/>
          <p:nvPr/>
        </p:nvSpPr>
        <p:spPr>
          <a:xfrm>
            <a:off x="6995160" y="1648341"/>
            <a:ext cx="4389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kern="0" spc="100" dirty="0">
                <a:solidFill>
                  <a:srgbClr val="02C39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STANDARDS, ETHICS &amp; CONSTRAINTS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6995160" y="2093976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Ethics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6995160" y="2482148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CFE8E5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Patient privacy is preserved by design — raw data never leaves a hospital; only model updates and quality statistics do.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6995160" y="3337560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Sustainability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6995160" y="3531736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CFE8E5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LoRA fine-tuning cuts communication volume, reducing the compute and bandwidth footprint of training.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6995160" y="4190104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Societal impact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6995160" y="4432778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CFE8E5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Improves early Alzheimer's diagnosis reliability while respecting real-world data-governance constraints.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6995160" y="5109434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Constraints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6995160" y="5360625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CFE8E5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Bound by public dataset access (ADNI/OASIS-3), GPU availability for multi-client runs, and non-IID data realism.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1155161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48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57200" y="644652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BUBT · CSE Capstone</a:t>
            </a:r>
            <a:endParaRPr lang="en-US" sz="10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kern="0" spc="200" dirty="0">
                <a:solidFill>
                  <a:srgbClr val="00A896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PROJECT PLAN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607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2E2C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Timeline &amp; Milestones</a:t>
            </a:r>
            <a:endParaRPr 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1051560" y="3794760"/>
            <a:ext cx="10104120" cy="0"/>
          </a:xfrm>
          <a:prstGeom prst="line">
            <a:avLst/>
          </a:prstGeom>
          <a:noFill/>
          <a:ln w="38100">
            <a:solidFill>
              <a:srgbClr val="DCE7E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32688" y="3675888"/>
            <a:ext cx="237744" cy="237744"/>
          </a:xfrm>
          <a:prstGeom prst="ellipse">
            <a:avLst/>
          </a:prstGeom>
          <a:solidFill>
            <a:srgbClr val="00A896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51560" y="3474720"/>
            <a:ext cx="0" cy="320040"/>
          </a:xfrm>
          <a:prstGeom prst="line">
            <a:avLst/>
          </a:prstGeom>
          <a:noFill/>
          <a:ln w="12700">
            <a:solidFill>
              <a:srgbClr val="DCE7E6"/>
            </a:solidFill>
            <a:prstDash val="dash"/>
          </a:ln>
        </p:spPr>
      </p:sp>
      <p:sp>
        <p:nvSpPr>
          <p:cNvPr id="7" name="Shape 5"/>
          <p:cNvSpPr/>
          <p:nvPr/>
        </p:nvSpPr>
        <p:spPr>
          <a:xfrm>
            <a:off x="182880" y="2240280"/>
            <a:ext cx="1737360" cy="1234440"/>
          </a:xfrm>
          <a:prstGeom prst="roundRect">
            <a:avLst>
              <a:gd name="adj" fmla="val 5185"/>
            </a:avLst>
          </a:prstGeom>
          <a:solidFill>
            <a:srgbClr val="DCF3EF"/>
          </a:solidFill>
          <a:ln w="9525">
            <a:solidFill>
              <a:srgbClr val="DCE7E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28600" y="2313432"/>
            <a:ext cx="1645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0F2E2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Literature Review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0F2E2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&amp; Problem Analysis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228600" y="3108960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A896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Completed</a:t>
            </a:r>
            <a:endParaRPr lang="en-US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2953512" y="3675888"/>
            <a:ext cx="237744" cy="237744"/>
          </a:xfrm>
          <a:prstGeom prst="ellipse">
            <a:avLst/>
          </a:prstGeom>
          <a:solidFill>
            <a:srgbClr val="00A896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072384" y="3913632"/>
            <a:ext cx="0" cy="201168"/>
          </a:xfrm>
          <a:prstGeom prst="line">
            <a:avLst/>
          </a:prstGeom>
          <a:noFill/>
          <a:ln w="12700">
            <a:solidFill>
              <a:srgbClr val="DCE7E6"/>
            </a:solidFill>
            <a:prstDash val="dash"/>
          </a:ln>
        </p:spPr>
      </p:sp>
      <p:sp>
        <p:nvSpPr>
          <p:cNvPr id="12" name="Shape 10"/>
          <p:cNvSpPr/>
          <p:nvPr/>
        </p:nvSpPr>
        <p:spPr>
          <a:xfrm>
            <a:off x="2203704" y="4114800"/>
            <a:ext cx="1737360" cy="1234440"/>
          </a:xfrm>
          <a:prstGeom prst="roundRect">
            <a:avLst>
              <a:gd name="adj" fmla="val 5185"/>
            </a:avLst>
          </a:prstGeom>
          <a:solidFill>
            <a:srgbClr val="DCF3EF"/>
          </a:solidFill>
          <a:ln w="9525">
            <a:solidFill>
              <a:srgbClr val="DCE7E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249424" y="4187952"/>
            <a:ext cx="1645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0F2E2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Framework Design &amp;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1" dirty="0">
                <a:solidFill>
                  <a:srgbClr val="0F2E2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Dataset Preparation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2249424" y="4983480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A896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Completed</a:t>
            </a:r>
            <a:endParaRPr lang="en-US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4974336" y="3675888"/>
            <a:ext cx="237744" cy="237744"/>
          </a:xfrm>
          <a:prstGeom prst="ellipse">
            <a:avLst/>
          </a:prstGeom>
          <a:solidFill>
            <a:srgbClr val="028090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093208" y="3474720"/>
            <a:ext cx="0" cy="320040"/>
          </a:xfrm>
          <a:prstGeom prst="line">
            <a:avLst/>
          </a:prstGeom>
          <a:noFill/>
          <a:ln w="12700">
            <a:solidFill>
              <a:srgbClr val="DCE7E6"/>
            </a:solidFill>
            <a:prstDash val="dash"/>
          </a:ln>
        </p:spPr>
      </p:sp>
      <p:sp>
        <p:nvSpPr>
          <p:cNvPr id="17" name="Shape 15"/>
          <p:cNvSpPr/>
          <p:nvPr/>
        </p:nvSpPr>
        <p:spPr>
          <a:xfrm>
            <a:off x="4224528" y="2240280"/>
            <a:ext cx="1737360" cy="1234440"/>
          </a:xfrm>
          <a:prstGeom prst="roundRect">
            <a:avLst>
              <a:gd name="adj" fmla="val 5185"/>
            </a:avLst>
          </a:prstGeom>
          <a:solidFill>
            <a:srgbClr val="EAF6F4"/>
          </a:solidFill>
          <a:ln w="9525">
            <a:solidFill>
              <a:srgbClr val="DCE7E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270248" y="2313432"/>
            <a:ext cx="1645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0F2E2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Model Implementation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0F2E2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&amp; LoRA Fine-Tuning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4270248" y="3108960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2809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In Progress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6995160" y="3675888"/>
            <a:ext cx="237744" cy="237744"/>
          </a:xfrm>
          <a:prstGeom prst="ellipse">
            <a:avLst/>
          </a:prstGeom>
          <a:solidFill>
            <a:srgbClr val="C9D9D7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114032" y="3913632"/>
            <a:ext cx="0" cy="201168"/>
          </a:xfrm>
          <a:prstGeom prst="line">
            <a:avLst/>
          </a:prstGeom>
          <a:noFill/>
          <a:ln w="12700">
            <a:solidFill>
              <a:srgbClr val="DCE7E6"/>
            </a:solidFill>
            <a:prstDash val="dash"/>
          </a:ln>
        </p:spPr>
      </p:sp>
      <p:sp>
        <p:nvSpPr>
          <p:cNvPr id="22" name="Shape 20"/>
          <p:cNvSpPr/>
          <p:nvPr/>
        </p:nvSpPr>
        <p:spPr>
          <a:xfrm>
            <a:off x="6245352" y="4114800"/>
            <a:ext cx="1737360" cy="1234440"/>
          </a:xfrm>
          <a:prstGeom prst="roundRect">
            <a:avLst>
              <a:gd name="adj" fmla="val 5185"/>
            </a:avLst>
          </a:prstGeom>
          <a:solidFill>
            <a:srgbClr val="F4FBFA"/>
          </a:solidFill>
          <a:ln w="9525">
            <a:solidFill>
              <a:srgbClr val="DCE7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291072" y="4187952"/>
            <a:ext cx="1645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0F2E2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Federated Training &amp;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1" dirty="0">
                <a:solidFill>
                  <a:srgbClr val="0F2E2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Client Selection Evaluation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6291072" y="5034220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748A8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Upcoming</a:t>
            </a:r>
            <a:endParaRPr lang="en-US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9015984" y="3675888"/>
            <a:ext cx="237744" cy="237744"/>
          </a:xfrm>
          <a:prstGeom prst="ellipse">
            <a:avLst/>
          </a:prstGeom>
          <a:solidFill>
            <a:srgbClr val="C9D9D7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9134856" y="3474720"/>
            <a:ext cx="0" cy="320040"/>
          </a:xfrm>
          <a:prstGeom prst="line">
            <a:avLst/>
          </a:prstGeom>
          <a:noFill/>
          <a:ln w="12700">
            <a:solidFill>
              <a:srgbClr val="DCE7E6"/>
            </a:solidFill>
            <a:prstDash val="dash"/>
          </a:ln>
        </p:spPr>
      </p:sp>
      <p:sp>
        <p:nvSpPr>
          <p:cNvPr id="27" name="Shape 25"/>
          <p:cNvSpPr/>
          <p:nvPr/>
        </p:nvSpPr>
        <p:spPr>
          <a:xfrm>
            <a:off x="8266176" y="2240280"/>
            <a:ext cx="1737360" cy="1234440"/>
          </a:xfrm>
          <a:prstGeom prst="roundRect">
            <a:avLst>
              <a:gd name="adj" fmla="val 5185"/>
            </a:avLst>
          </a:prstGeom>
          <a:solidFill>
            <a:srgbClr val="F4FBFA"/>
          </a:solidFill>
          <a:ln w="9525">
            <a:solidFill>
              <a:srgbClr val="DCE7E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311896" y="2313432"/>
            <a:ext cx="1645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0F2E2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Ablation Studies &amp;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0F2E2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Baseline Comparison</a:t>
            </a:r>
            <a:endParaRPr lang="en-US" sz="9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8311896" y="3108960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748A8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Upcoming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Shape 28"/>
          <p:cNvSpPr/>
          <p:nvPr/>
        </p:nvSpPr>
        <p:spPr>
          <a:xfrm>
            <a:off x="11036808" y="3675888"/>
            <a:ext cx="237744" cy="237744"/>
          </a:xfrm>
          <a:prstGeom prst="ellipse">
            <a:avLst/>
          </a:prstGeom>
          <a:solidFill>
            <a:srgbClr val="C9D9D7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1155680" y="3913632"/>
            <a:ext cx="0" cy="201168"/>
          </a:xfrm>
          <a:prstGeom prst="line">
            <a:avLst/>
          </a:prstGeom>
          <a:noFill/>
          <a:ln w="12700">
            <a:solidFill>
              <a:srgbClr val="DCE7E6"/>
            </a:solidFill>
            <a:prstDash val="dash"/>
          </a:ln>
        </p:spPr>
      </p:sp>
      <p:sp>
        <p:nvSpPr>
          <p:cNvPr id="32" name="Shape 30"/>
          <p:cNvSpPr/>
          <p:nvPr/>
        </p:nvSpPr>
        <p:spPr>
          <a:xfrm>
            <a:off x="10287000" y="4114800"/>
            <a:ext cx="1737360" cy="1234440"/>
          </a:xfrm>
          <a:prstGeom prst="roundRect">
            <a:avLst>
              <a:gd name="adj" fmla="val 5185"/>
            </a:avLst>
          </a:prstGeom>
          <a:solidFill>
            <a:srgbClr val="F4FBFA"/>
          </a:solidFill>
          <a:ln w="9525">
            <a:solidFill>
              <a:srgbClr val="DCE7E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0332720" y="4187952"/>
            <a:ext cx="1645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0F2E2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Explainability Integration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1" dirty="0">
                <a:solidFill>
                  <a:srgbClr val="0F2E2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&amp; Final Report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" name="Text 32"/>
          <p:cNvSpPr/>
          <p:nvPr/>
        </p:nvSpPr>
        <p:spPr>
          <a:xfrm>
            <a:off x="10332720" y="4983480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748A8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Upcoming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5" name="Text 33"/>
          <p:cNvSpPr/>
          <p:nvPr/>
        </p:nvSpPr>
        <p:spPr>
          <a:xfrm>
            <a:off x="548640" y="580644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Chapters 4–6 (implementation, results, and conclusion) will be completed as experiments are run in the upcoming phase.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6" name="Text 34"/>
          <p:cNvSpPr/>
          <p:nvPr/>
        </p:nvSpPr>
        <p:spPr>
          <a:xfrm>
            <a:off x="1155161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48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457200" y="644652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BUBT · CSE Capstone</a:t>
            </a:r>
            <a:endParaRPr lang="en-US" sz="10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52E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286000" y="-2286000"/>
            <a:ext cx="5486400" cy="5486400"/>
          </a:xfrm>
          <a:prstGeom prst="ellipse">
            <a:avLst/>
          </a:prstGeom>
          <a:solidFill>
            <a:srgbClr val="028090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326880" y="3657600"/>
            <a:ext cx="5029200" cy="5029200"/>
          </a:xfrm>
          <a:prstGeom prst="ellipse">
            <a:avLst/>
          </a:prstGeom>
          <a:solidFill>
            <a:srgbClr val="00A896">
              <a:alpha val="3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2505833" y="2585251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800" b="1" dirty="0">
                <a:solidFill>
                  <a:srgbClr val="FFFFFF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Thank</a:t>
            </a:r>
            <a:r>
              <a:rPr lang="en-US" sz="8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You</a:t>
            </a:r>
            <a:endParaRPr lang="en-US" sz="8800" dirty="0"/>
          </a:p>
        </p:txBody>
      </p:sp>
      <p:sp>
        <p:nvSpPr>
          <p:cNvPr id="5" name="Text 3"/>
          <p:cNvSpPr/>
          <p:nvPr/>
        </p:nvSpPr>
        <p:spPr>
          <a:xfrm>
            <a:off x="2577877" y="383895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02C39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Questions &amp; Discussion Welcome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194</TotalTime>
  <Words>2205</Words>
  <Application>Microsoft Office PowerPoint</Application>
  <PresentationFormat>Widescreen</PresentationFormat>
  <Paragraphs>341</Paragraphs>
  <Slides>16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1" baseType="lpstr">
      <vt:lpstr>Arial</vt:lpstr>
      <vt:lpstr>Calibri</vt:lpstr>
      <vt:lpstr>Cambria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Anfal Ratul</cp:lastModifiedBy>
  <cp:revision>74</cp:revision>
  <dcterms:created xsi:type="dcterms:W3CDTF">2026-09-02T06:07:17Z</dcterms:created>
  <dcterms:modified xsi:type="dcterms:W3CDTF">2026-09-06T17:56:53Z</dcterms:modified>
</cp:coreProperties>
</file>