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206240"/>
            <a:ext cx="4754880" cy="475488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FEDERATED LEARNING · B.SC. CAPSTONE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10515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Client Selection for Multimodal Federated Vision Foundation Models in Alzheimer's Disease Prediction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68680" y="288036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063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6903720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858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 ·  5 MEMBERS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42062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Jewel Rana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A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20234103363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Mubashsher Salek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A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20234103371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Mostafa Monoar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A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20234103379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43400" y="42062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Mehedi Hassan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A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20234103384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Rahmatul Munim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A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20234103386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09560" y="3703320"/>
            <a:ext cx="3456432" cy="2194560"/>
          </a:xfrm>
          <a:prstGeom prst="roundRect">
            <a:avLst>
              <a:gd name="adj" fmla="val 4167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3886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5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3816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Shamim Ahmed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38160" y="4617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B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CSE, BUBT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5349240"/>
            <a:ext cx="3017520" cy="0"/>
          </a:xfrm>
          <a:prstGeom prst="line">
            <a:avLst/>
          </a:prstGeom>
          <a:noFill/>
          <a:ln w="6350">
            <a:solidFill>
              <a:srgbClr val="0B4B47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546811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B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University of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B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and Technology  ·  July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Evidence, Held Apart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Alzheimer's diagnosis needs joint analysis of MRI/PET imaging and clinical or demographic risk factors — but this data lives across hospitals that cannot legally pool it onto one server.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62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82549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regulation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13639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Centralising sensitive medical records for training is often legally infeasible across institutions.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913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87705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participation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18795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federated frameworks pick clients randomly, ignoring data quality, modality gaps, and class imbalance.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965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92861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523951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global models, slower convergence, and less reliable diagnosis — especially for foundation models fine-tuned on heterogeneous, non-IID hospital data.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03720" y="1417320"/>
            <a:ext cx="4754880" cy="4709160"/>
          </a:xfrm>
          <a:prstGeom prst="roundRect">
            <a:avLst>
              <a:gd name="adj" fmla="val 2330"/>
            </a:avLst>
          </a:prstGeom>
          <a:solidFill>
            <a:srgbClr val="F4FBFA"/>
          </a:solidFill>
          <a:ln w="12700">
            <a:solidFill>
              <a:srgbClr val="DCE7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1645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HOSPITAL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1031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(MRI)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8972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21031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(Clinical)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75320" y="306324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30632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(Mixed)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412480" y="425196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4251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138160" y="2971800"/>
            <a:ext cx="411480" cy="128016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8915400" y="2971800"/>
            <a:ext cx="1097280" cy="128016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8796528" y="3931920"/>
            <a:ext cx="301752" cy="32004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178040" y="53492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and data-sharing barriers block direct pooling of patient records across sites — the motivation for a federated approach.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Federated Learning, Why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1298448"/>
          </a:xfrm>
          <a:prstGeom prst="roundRect">
            <a:avLst>
              <a:gd name="adj" fmla="val 5634"/>
            </a:avLst>
          </a:prstGeom>
          <a:solidFill>
            <a:srgbClr val="EAF6F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foundation models work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CLIP-style pretraining (Radford et al.) and medical adaptations like ADLIP show strong Alzheimer's diagnosis performance — but only in centralised training.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944368"/>
            <a:ext cx="6035040" cy="1298448"/>
          </a:xfrm>
          <a:prstGeom prst="roundRect">
            <a:avLst>
              <a:gd name="adj" fmla="val 5634"/>
            </a:avLst>
          </a:prstGeom>
          <a:solidFill>
            <a:srgbClr val="EAF6F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54096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removes the barrier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(McMahan et al.) lets hospitals train locally and share only model updates, not raw data — already applied to Alzheimer's diagnosis (FuzzyFed-CNN, federated SAM-Med3D).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25696"/>
            <a:ext cx="6035040" cy="1298448"/>
          </a:xfrm>
          <a:prstGeom prst="roundRect">
            <a:avLst>
              <a:gd name="adj" fmla="val 5634"/>
            </a:avLst>
          </a:prstGeom>
          <a:solidFill>
            <a:srgbClr val="EAF6F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535424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selection is the missing piece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864608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federated Alzheimer's systems use random or full participation, discarding the free signal each client can report about its own data quality.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03720" y="1463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MOTIVATIONS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828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89520" y="17830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89520" y="21031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data legally cannot be centralised — federated design is required, not optional.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32004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89520" y="3154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89520" y="34747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differ in scanners, populations, and how completely clinical data is recorded.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45720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89520" y="4526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89520" y="48463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need to discount unreliable clients and see explainable predictions before acting.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Sets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EAF6F4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91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1618488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multimodal federated learning framework fusing MRI imaging with clinical and demographic risk factors.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508760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01968" y="1691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601968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69480" y="1618488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pretrained vision foundation model via LoRA fine-tuning to keep per-round communication cost low.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EAF6F4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063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044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2990088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adaptive client selection strategy scoring clients on data quality, modality completeness, and class balance.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880360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01968" y="3063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601968" y="3044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69480" y="2990088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FedAvg with random sampling and correlation-based selection (FedCor) on accuracy, convergence, and efficiency.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5257800" cy="1207008"/>
          </a:xfrm>
          <a:prstGeom prst="roundRect">
            <a:avLst>
              <a:gd name="adj" fmla="val 6818"/>
            </a:avLst>
          </a:prstGeom>
          <a:solidFill>
            <a:srgbClr val="EAF6F4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434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4361688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model decisions interpretable to clinicians using Grad-CAM for imaging and SHAP for clinical features.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Prior System Covers All Three Needs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literature themes were reviewed — vision foundation models, federated medical learning, client selection, and explainability. Each prior system occupies only one part of the space below.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183112" cy="457200"/>
          </a:xfrm>
          <a:prstGeom prst="roundRect">
            <a:avLst>
              <a:gd name="adj" fmla="val 10000"/>
            </a:avLst>
          </a:prstGeom>
          <a:solidFill>
            <a:srgbClr val="052E3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880360" y="2057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257800" y="2057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Selection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81812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104120" y="205740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1118311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1460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FuzzyFed-CNN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251460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(fuzzy fusion)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25146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Near-uniform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18120" y="25146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104120" y="2514600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rules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081528"/>
            <a:ext cx="11183112" cy="566928"/>
          </a:xfrm>
          <a:prstGeom prst="rect">
            <a:avLst/>
          </a:prstGeom>
          <a:solidFill>
            <a:srgbClr val="F4FBFA"/>
          </a:solidFill>
          <a:ln w="6350">
            <a:solidFill>
              <a:srgbClr val="DCE7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8152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ADLIP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80360" y="308152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+ clinical text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308152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(centralised)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18120" y="308152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(vision-language)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104120" y="3081528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648456"/>
            <a:ext cx="1118311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4845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SAM-Med3D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80360" y="36484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364845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/ full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18120" y="364845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(SAM-Med3D)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104120" y="364845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215384"/>
            <a:ext cx="11183112" cy="566928"/>
          </a:xfrm>
          <a:prstGeom prst="rect">
            <a:avLst/>
          </a:prstGeom>
          <a:solidFill>
            <a:srgbClr val="F4FBFA"/>
          </a:solidFill>
          <a:ln w="6350">
            <a:solidFill>
              <a:srgbClr val="DCE7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21538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FedCor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80360" y="421538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(non-medical)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421538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Correlation-based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18120" y="421538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104120" y="4215384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782312"/>
            <a:ext cx="11183112" cy="566928"/>
          </a:xfrm>
          <a:prstGeom prst="rect">
            <a:avLst/>
          </a:prstGeom>
          <a:solidFill>
            <a:srgbClr val="DCF3EF"/>
          </a:solidFill>
          <a:ln w="6350">
            <a:solidFill>
              <a:srgbClr val="DCE7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78231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Framework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80360" y="478231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+ clinical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478231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Adaptive, quality-aware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18120" y="478231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(ViT-based)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104120" y="4782312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+ SHAP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55138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only the proposed framework combines multimodal federated foundation-model training, adaptive quality-aware selection, and cross-modal explainability.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Adds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EAF6F4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647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46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77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fusion framework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86207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ViT encoder and clinical encoder are fused and fine-tuned locally with LoRA, so only low-rank parameters are communicated.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6824" y="150876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4562856" y="1764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1746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62856" y="2377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client selection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62856" y="286207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client on data quality, modality completeness, and class balance before every aggregation round.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5008" y="150876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EAF6F4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7647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746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2377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aggregation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21040" y="286207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FedAvg by scaling each selected client's contribution by its selection score.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477256" cy="1417320"/>
          </a:xfrm>
          <a:prstGeom prst="roundRect">
            <a:avLst>
              <a:gd name="adj" fmla="val 6452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18795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4114800"/>
            <a:ext cx="4288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explainability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63040" y="4498848"/>
            <a:ext cx="42885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Grad-CAM (imaging) with SHAP (clinical) so flagged predictions carry evidence from both modalities.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54496" y="3931920"/>
            <a:ext cx="5477256" cy="1417320"/>
          </a:xfrm>
          <a:prstGeom prst="roundRect">
            <a:avLst>
              <a:gd name="adj" fmla="val 6452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418795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510528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68896" y="4114800"/>
            <a:ext cx="4288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ablation study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168896" y="4498848"/>
            <a:ext cx="42885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the effect of selection, weighted aggregation, and each modality against FedAvg and FedCor baselines.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Adaptive Client-Selection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+ Clinical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(per client)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71800" y="15544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155448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Encoder +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Encoder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15544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155448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Layer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(LoRA fine-tuned)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18120" y="15544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155448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Quality /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/ Balance 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1988820"/>
            <a:ext cx="3200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74920" y="1988820"/>
            <a:ext cx="3200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0" y="1988820"/>
            <a:ext cx="3200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48640" y="2542032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at every client hospital, each round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2423160"/>
            <a:ext cx="0" cy="50292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49040" y="29718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29718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CLIENT SELECTION MODULE — rank &amp; select top-scoring clients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3657600"/>
            <a:ext cx="0" cy="50292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103120" y="416052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052E33"/>
          </a:solidFill>
          <a:ln/>
        </p:spPr>
      </p:sp>
      <p:sp>
        <p:nvSpPr>
          <p:cNvPr id="21" name="Text 19"/>
          <p:cNvSpPr/>
          <p:nvPr/>
        </p:nvSpPr>
        <p:spPr>
          <a:xfrm>
            <a:off x="2103120" y="41605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Server: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Aggregation → Global Model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4590288"/>
            <a:ext cx="1600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909560" y="416052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7909560" y="41605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5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5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+ SHAP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1292840" y="4590288"/>
            <a:ext cx="0" cy="-2651760"/>
          </a:xfrm>
          <a:prstGeom prst="line">
            <a:avLst/>
          </a:prstGeom>
          <a:noFill/>
          <a:ln w="15875">
            <a:solidFill>
              <a:srgbClr val="748A8C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921240" y="1938528"/>
            <a:ext cx="1371600" cy="0"/>
          </a:xfrm>
          <a:prstGeom prst="line">
            <a:avLst/>
          </a:prstGeom>
          <a:noFill/>
          <a:ln w="15875">
            <a:solidFill>
              <a:srgbClr val="748A8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9052560" y="5120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global model broadcast to all clients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" y="5349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contributions are weighted by both dataset size and selection score, so unreliable or incomplete clients influence the global model less — without ever exposing raw patient data.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REQUIREMENTS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Simulating a Realistic Hospital Federation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9584" cy="2834640"/>
          </a:xfrm>
          <a:prstGeom prst="roundRect">
            <a:avLst>
              <a:gd name="adj" fmla="val 3226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3529584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3529584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3529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30552"/>
            <a:ext cx="3529584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· 60+ sites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30723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Longitudinal, multi-site study (ADNI-1 to ADNI-4) with structural MRI, PET, genetic, and cognitive data across the US and Canada.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06824" y="1508760"/>
            <a:ext cx="3529584" cy="2834640"/>
          </a:xfrm>
          <a:prstGeom prst="roundRect">
            <a:avLst>
              <a:gd name="adj" fmla="val 3226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6824" y="1508760"/>
            <a:ext cx="3529584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06824" y="1783080"/>
            <a:ext cx="3529584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306824" y="1508760"/>
            <a:ext cx="3529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OASIS-3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06824" y="2130552"/>
            <a:ext cx="3529584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1,378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306824" y="2898648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· 3 decades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35424" y="3200400"/>
            <a:ext cx="30723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755 cognitively normal adults and 622 individuals at varying decline stages, with 2,800+ MRI and 2,100+ PET sessions.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1508760"/>
            <a:ext cx="3529584" cy="2834640"/>
          </a:xfrm>
          <a:prstGeom prst="roundRect">
            <a:avLst>
              <a:gd name="adj" fmla="val 3226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1508760"/>
            <a:ext cx="3529584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8065008" y="1783080"/>
            <a:ext cx="3529584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8065008" y="1508760"/>
            <a:ext cx="3529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Risk Dataset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65008" y="2130552"/>
            <a:ext cx="3529584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</a:t>
            </a:r>
            <a:endParaRPr lang="en-US" sz="2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065008" y="2898648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tabular data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93608" y="3200400"/>
            <a:ext cx="30723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lifestyle &amp; cardiovascular factors, cognitive scores, and genetic markers (incl. APOE ε4), partitioned by country.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Non-IID partitioning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4892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are split by acquisition site or recorded country — not balanced at random — so each client reflects a realistic single-institution population with its own class mix and modality completeness. This heterogeneity is exactly what the client selection module is built to handle.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MRI resampled &amp; patch-tokenized for ViT input · clinical fields normalised / one-hot encoded · missing values explicitly flagged for the completeness score.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&amp; MODEL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Multimodal Model, Fine-Tuned With LoRA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360920" cy="896112"/>
          </a:xfrm>
          <a:prstGeom prst="roundRect">
            <a:avLst>
              <a:gd name="adj" fmla="val 8163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branch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hᵥ = ViT(xᵥ)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43200" y="1463040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pretrained Vision Transformer encodes each client's MRI scan into a shared representation space.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7360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42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branch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h_c = MLP(x_c)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43200" y="2468880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feed-forward network encodes demographic, cognitive, and genetic risk variables.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7360920" cy="896112"/>
          </a:xfrm>
          <a:prstGeom prst="roundRect">
            <a:avLst>
              <a:gd name="adj" fmla="val 8163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47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ReLU(Wf[hᵥ; h_c] + bf)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43200" y="3474720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representations are concatenated and passed through a fully connected fusion layer.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7360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553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head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softmax(W₀h + b₀)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43200" y="4480560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classification head reads the diagnostic prediction (e.g. CN / MCI / AD) from the fused vector.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38160" y="1463040"/>
            <a:ext cx="3520440" cy="4041648"/>
          </a:xfrm>
          <a:prstGeom prst="roundRect">
            <a:avLst>
              <a:gd name="adj" fmla="val 2597"/>
            </a:avLst>
          </a:prstGeom>
          <a:solidFill>
            <a:srgbClr val="052E33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16916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FINE-TUNING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W₀ + BA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0" y="27432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low-rank matrices A and B are trained and transmitted per client — the large pretrained backbone W₀ stays frozen.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12480" y="3886200"/>
            <a:ext cx="3017520" cy="0"/>
          </a:xfrm>
          <a:prstGeom prst="line">
            <a:avLst/>
          </a:prstGeom>
          <a:noFill/>
          <a:ln w="9525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4023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4315968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Sharply reduces the communication payload each resource-constrained hospital client must send every round — making federated fine-tuning of a large foundation model practical.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Every Client Before Each Round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Sₖ = w_Q·Qₖ + w_C·Cₖ + w_B·Bₖ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client score, computed locally before every aggregation round 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6858000" cy="868680"/>
          </a:xfrm>
          <a:prstGeom prst="roundRect">
            <a:avLst>
              <a:gd name="adj" fmla="val 8421"/>
            </a:avLst>
          </a:prstGeom>
          <a:solidFill>
            <a:srgbClr val="EAF6F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146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— Data Quality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82549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resolution / artifact indicators and the fraction of non-missing clinical fields.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6858000" cy="868680"/>
          </a:xfrm>
          <a:prstGeom prst="roundRect">
            <a:avLst>
              <a:gd name="adj" fmla="val 8421"/>
            </a:avLst>
          </a:prstGeom>
          <a:solidFill>
            <a:srgbClr val="EAF6F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5387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Modality Completeness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84962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local instances that have both a linked MRI scan and a clinical record.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471416"/>
            <a:ext cx="6858000" cy="868680"/>
          </a:xfrm>
          <a:prstGeom prst="roundRect">
            <a:avLst>
              <a:gd name="adj" fmla="val 8421"/>
            </a:avLst>
          </a:prstGeom>
          <a:solidFill>
            <a:srgbClr val="EAF6F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56285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Class Balance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87375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of the class-imbalance ratio within the client's local diagnostic labels.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18120" y="1371600"/>
            <a:ext cx="3840480" cy="4754880"/>
          </a:xfrm>
          <a:prstGeom prst="roundRect">
            <a:avLst>
              <a:gd name="adj" fmla="val 2381"/>
            </a:avLst>
          </a:prstGeom>
          <a:solidFill>
            <a:srgbClr val="052E33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15727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— CLIENT SELECTION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2440" y="205740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20391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49640" y="2002536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client k, compute Qₖ, Cₖ, Bₖ from local data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92440" y="271576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8092440" y="26974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49640" y="2660904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Combine: Sₖ ← w_Q·Qₖ + w_C·Cₖ + w_B·Bₖ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92440" y="337413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8092440" y="33558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49640" y="3319272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all clients by score Sₖ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92440" y="4032504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4014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49640" y="39776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top-m clients as Kₜ for this round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92440" y="469087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46725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49640" y="463600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Kₜ to the central server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92440" y="5394960"/>
            <a:ext cx="3291840" cy="0"/>
          </a:xfrm>
          <a:prstGeom prst="line">
            <a:avLst/>
          </a:prstGeom>
          <a:noFill/>
          <a:ln w="9525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2440" y="55321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aggregate statistics leave each hospital — raw patient data never does.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AGGREGATION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Selected Clients to an Updated Global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AF6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θₜ₊₁ = Σₖ∈Kₜ [ (nₖ·Sₖ) / Σⱼ∈Kₜ nⱼ·Sⱼ ] · θₖ⁽ᵗ⁾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FedAvg: contribution weighted by BOTH dataset size nₖ AND selection score Sₖ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— One Federated Training Round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99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97180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clients k ∈ Kₜ initialise local LoRA parameters from global θₜ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59359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753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3547872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fine-tunes locally on its (imaging, clinical, label)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6966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51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4123944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returns its updated local parameters and score Sₖ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745736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27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70001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aggregates via the weighted-average rule above → θₜ₊₁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321808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03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5276088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θₜ₊₁ is broadcast back to all clients for the next round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1417320"/>
            <a:ext cx="5166360" cy="4709160"/>
          </a:xfrm>
          <a:prstGeom prst="roundRect">
            <a:avLst>
              <a:gd name="adj" fmla="val 1942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ABLATION STUDY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20840" y="21031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207568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vs. random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760" y="235915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adaptive selection with random sampling to isolate its effect.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20840" y="299923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2980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297180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vs. plain FedAvg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3255264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weighted aggregation (Eq. 7) with unweighted FedAvg.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20840" y="389534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3877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386791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contribution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23760" y="415137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input to MRI-only or clinical-only to measure fusion's value.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720840" y="479145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4773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23760" y="4764024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FedCor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23760" y="504748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proposed score against correlation-based selection.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MODULE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Clinicians Can Trust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105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922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— Imaging Branch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gradient of the predicted class with respect to the ViT's attention feature maps to localise which regions of the MRI most influenced the prediction — a coarse but clinically intuitive heat-map.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3703320"/>
            <a:ext cx="4709160" cy="0"/>
          </a:xfrm>
          <a:prstGeom prst="line">
            <a:avLst/>
          </a:prstGeom>
          <a:noFill/>
          <a:ln w="12700">
            <a:solidFill>
              <a:srgbClr val="DCE7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862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“Which part of the scan drove this result?”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3434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tool for explaining image-based medical predictions (Selvaraju et al., 2017).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81051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7922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Clinical Branch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251460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game-theoretically grounded attribution method that assigns each structured clinical or demographic variable a contribution toward the model's prediction — directly applicable to age, cognitive scores, and genetic markers.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0" y="3703320"/>
            <a:ext cx="4709160" cy="0"/>
          </a:xfrm>
          <a:prstGeom prst="line">
            <a:avLst/>
          </a:prstGeom>
          <a:noFill/>
          <a:ln w="12700">
            <a:solidFill>
              <a:srgbClr val="DCE7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8862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“Which clinical factors mattered most?”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43434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attribution framework (Lundberg &amp; Lee, 2017), applied to the clinical encoder's inputs.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clinician reviewing a flagged case sees both the imaging evidence and the clinical evidence behind it — together.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RIGOR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Engineering Analysis, Ethics &amp; Constraints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ENGINEERING PROBLEM ATTRIBUTES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knowledge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02996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vision foundation models, LoRA, federated optimisation, and client-heterogeneity statistics.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requirements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80720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communication cost, privacy, and cross-client fairness compete with one another.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Interdependence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58444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scoring, weighted aggregation, and foundation-model fine-tuning are mutually dependent.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ACTIVITY: INNOVATION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 data-quality-aware client selection mechanism with a multimodal vision foundation model for Alzheimer's diagnosis — a pairing absent from the reviewed literature.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1371600"/>
            <a:ext cx="4937760" cy="4892040"/>
          </a:xfrm>
          <a:prstGeom prst="roundRect">
            <a:avLst>
              <a:gd name="adj" fmla="val 1869"/>
            </a:avLst>
          </a:prstGeom>
          <a:solidFill>
            <a:srgbClr val="052E33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15727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STANDARDS, ETHICS &amp; CONSTRAINTS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95160" y="2011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95160" y="230428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privacy is preserved by design — raw data never leaves a hospital; only model updates and quality statistics do.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95160" y="2971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95160" y="326440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fine-tuning cuts communication volume, reducing the compute and bandwidth footprint of training.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95160" y="3931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impact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5160" y="422452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early Alzheimer's diagnosis reliability while respecting real-world data-governance constraints.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95160" y="48920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518464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by public dataset access (ADNI/OASIS-3), GPU availability for multi-client runs, and non-IID data realism.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Milestones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3794760"/>
            <a:ext cx="10104120" cy="0"/>
          </a:xfrm>
          <a:prstGeom prst="line">
            <a:avLst/>
          </a:prstGeom>
          <a:noFill/>
          <a:ln w="38100">
            <a:solidFill>
              <a:srgbClr val="DCE7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3675888"/>
            <a:ext cx="237744" cy="23774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3474720"/>
            <a:ext cx="0" cy="320040"/>
          </a:xfrm>
          <a:prstGeom prst="line">
            <a:avLst/>
          </a:prstGeom>
          <a:noFill/>
          <a:ln w="12700">
            <a:solidFill>
              <a:srgbClr val="DCE7E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82880" y="224028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DCF3E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231343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Problem Analysis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8600" y="31089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53512" y="3675888"/>
            <a:ext cx="237744" cy="23774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72384" y="3913632"/>
            <a:ext cx="0" cy="201168"/>
          </a:xfrm>
          <a:prstGeom prst="line">
            <a:avLst/>
          </a:prstGeom>
          <a:noFill/>
          <a:ln w="12700">
            <a:solidFill>
              <a:srgbClr val="DCE7E6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203704" y="411480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DCF3E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9424" y="418795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Design &amp;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49424" y="4983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74336" y="3675888"/>
            <a:ext cx="237744" cy="237744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93208" y="3474720"/>
            <a:ext cx="0" cy="320040"/>
          </a:xfrm>
          <a:prstGeom prst="line">
            <a:avLst/>
          </a:prstGeom>
          <a:noFill/>
          <a:ln w="12700">
            <a:solidFill>
              <a:srgbClr val="DCE7E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224528" y="224028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EAF6F4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0248" y="231343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Implementation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LoRA Fine-Tuning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70248" y="31089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95160" y="3675888"/>
            <a:ext cx="237744" cy="237744"/>
          </a:xfrm>
          <a:prstGeom prst="ellipse">
            <a:avLst/>
          </a:prstGeom>
          <a:solidFill>
            <a:srgbClr val="C9D9D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14032" y="3913632"/>
            <a:ext cx="0" cy="201168"/>
          </a:xfrm>
          <a:prstGeom prst="line">
            <a:avLst/>
          </a:prstGeom>
          <a:noFill/>
          <a:ln w="12700">
            <a:solidFill>
              <a:srgbClr val="DCE7E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245352" y="411480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418795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Training &amp;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Selection Evaluation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91072" y="4983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15984" y="3675888"/>
            <a:ext cx="237744" cy="237744"/>
          </a:xfrm>
          <a:prstGeom prst="ellipse">
            <a:avLst/>
          </a:prstGeom>
          <a:solidFill>
            <a:srgbClr val="C9D9D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4856" y="3474720"/>
            <a:ext cx="0" cy="320040"/>
          </a:xfrm>
          <a:prstGeom prst="line">
            <a:avLst/>
          </a:prstGeom>
          <a:noFill/>
          <a:ln w="12700">
            <a:solidFill>
              <a:srgbClr val="DCE7E6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8266176" y="224028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11896" y="231343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Studies &amp;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311896" y="31089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1036808" y="3675888"/>
            <a:ext cx="237744" cy="237744"/>
          </a:xfrm>
          <a:prstGeom prst="ellipse">
            <a:avLst/>
          </a:prstGeom>
          <a:solidFill>
            <a:srgbClr val="C9D9D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55680" y="3913632"/>
            <a:ext cx="0" cy="201168"/>
          </a:xfrm>
          <a:prstGeom prst="line">
            <a:avLst/>
          </a:prstGeom>
          <a:noFill/>
          <a:ln w="12700">
            <a:solidFill>
              <a:srgbClr val="DCE7E6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0287000" y="411480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F4FBFA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32720" y="418795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Integration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Final Report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332720" y="4983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4–6 (implementation, results, and conclusion) will be completed as experiments are run in the upcoming phase.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BUBT · CSE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657600"/>
            <a:ext cx="5029200" cy="50292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051560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87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Jewel Rana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0906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20234103363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3484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Mubashsher Salek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34840" y="30906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20234103371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Mostafa Monoar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0" y="30906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20234103379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97280" y="34930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Mehedi Hassan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97280" y="3749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20234103384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34840" y="34930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Rahmatul Munim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34840" y="3749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20234103386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Shamim Ahmed, Assistant Professor, Dept. of CSE, BUBT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Bangladesh University of Business and Technology  ·  July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2026-09-02T06:07:17Z</dcterms:created>
  <dcterms:modified xsi:type="dcterms:W3CDTF">2026-09-02T06:07:17Z</dcterms:modified>
</cp:coreProperties>
</file>